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899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Thank you for the opportunity to present my internship project: Heart Disease Risk Analysis using Exploratory Data Analysis. Over the course of this internship, I worked with the UCI Heart Disease dataset to understand how data analysis techniques can support early detection and risk assessment in cardiovascular health. In this presentation, I'll walk you through the problem statement, the dataset, the cleaning and preprocessing steps I performed, the exploratory analysis I conducted, the key insights I observed, and the future scope for extending this work into predictive modeling. My goal throughout this project was to apply a structured, methodical EDA process — the same process a data analyst would follow in a real healthcare analytics role. Let's begin with the problem statement and why this kind of analysis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refers to a range of cardiovascular conditions that affect how the heart functions, and it remains one of the most significant health concerns worldwide. What makes it particularly dangerous is that risk often builds silently — many clinical indicators shift gradually before any noticeable symptoms appear. This is exactly where data analysis becomes valuable: by examining patient records systematically, we can uncover patterns and relationships between variables like cholesterol, blood pressure, and heart rate that might not be obvious through manual review alone. From a healthcare and business perspective, this kind of early, data-driven insight supports preventive care, reduces diagnostic delays, and lays important groundwork for predictive tools that clinicians can eventually use for decision support.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guided by four core objectives. First, I wanted to understand the patient population itself — who is represented in this dataset in terms of age, sex, and key clinical readings. Second, I aimed to explore relationships between variables, since heart disease risk is rarely driven by a single factor in isolation. Third, the goal was to identify visible trends and potential risk indicators that stood out during exploration — without making unsupported claims. Finally, every step of cleaning and exploration was done with an eye toward preparing this dataset for future machine learning work, ensuring the data is well-understood and analysis-ready before any predictive modeling begins.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used the UCI Heart Disease dataset, which contains approximately 303 patient records with thirteen clinical and demographic attributes plus a target variable indicating the presence of heart disease. The features span a mix of demographic information like age and sex, and clinical measurements such as resting blood pressure, cholesterol, fasting blood sugar, resting ECG results, maximum heart rate achieved, exercise-induced angina, ST depression, the number of major vessels visible on fluoroscopy, and thalassemia results. This dataset is widely used in cardiovascular machine learning research, which made it a reliable and well-documented foundation for this exploratory analysis.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began, it was important to understand exactly what this dataset contained. I selected the UCI Heart Disease dataset because it's a well-documented, widely cited resource in cardiovascular research, which makes it a credible foundation for this kind of project. The process followed a simple three-stage flow: starting with the data source itself, moving into structural inspection — checking column types, formats, and value ranges — and finally building a deeper understanding of what each feature actually represents clinically. This step matters because you can't clean or analyze data responsibly without first understanding what each variable means and how it connects to real-world patient care.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exploring the data, I carried out a structured cleaning and preprocessing workflow. This began with assigning clear, descriptive column names, since the raw dataset uses abbreviated headers. Next, I scanned for missing values across every column and found that some entries used a question mark to represent missing data, which I converted into a standard NaN format that Python recognizes. I then verified that each column had the correct data type — numeric fields as numbers, categorical fields as categories. Rows with unresolvable missing values were removed to preserve data integrity. Finally, I engineered a clean binary target variable, heart disease present or not, from the original multi-class diagnosis column, which simplified later analysis considerably.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exploratory data analysis followed six complementary techniques. I began with univariate analysis, examining each variable on its own to understand its distribution. From there, I moved to bivariate analysis, looking at how pairs of variables relate to each other and to the target outcome. Distribution analysis helped visualize how values like age or cholesterol spread across the patient population, while outlier detection flagged unusual values that needed closer attention. Correlation analysis measured the strength of relationships between numeric features, and comparative analysis let me examine how patterns differ across groups, such as between male and female patients. Together, these six techniques formed a comprehensive exploratory framework.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two foundational demographic variables: age and gender. The age distribution histogram, once inserted, would show how patient ages are spread across the dataset, while the gender distribution chart shows the proportion of male versus female patients. Age is widely recognized as an important factor in cardiovascular risk, which makes it a natural starting point for exploration. Looking at gender differences helps contextualize whether any patterns we observe later are consistent across both groups or vary meaningfully by sex. It's important to note that at this stage we are only describing the shape and spread of these distributions — we are not yet drawing conclusions about cause and effect.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Cholesterol and resting blood pressure are two of the most closely watched clinical markers in cardiovascular health, which is why they receive dedicated attention in this analysis. The cholesterol box plot, once inserted, would show the spread of values along with any outliers, while the blood pressure visualization shows a similar view for resting blood pressure readings. When outliers appear in box plots, I treat them carefully — extremely high cholesterol or blood pressure readings could reflect genuine high-risk patients rather than data entry errors, so they aren't simply discarded. This is exactly where exploratory data analysis earns its value: box plots make it easy to see spread, skew, and unusual values at a glance, helping highlight ranges that may deserve closer clinical attention.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at two more clinically significant variables: maximum heart rate achieved during exercise testing, and chest pain type. The heart rate box plot would show how this functional measurement is distributed across patients, while the chest pain count plot shows how many patients fall into each chest pain category. Both variables are clinically important because they reflect how the heart performs under stress, which often reveals more than a single resting measurement could. By comparing these distributions across diagnosis groups — patients with and without heart disease — exploratory analysis can surface patterns that may be worth validating with more formal statistical testing later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heatmap is one of the most information-dense visuals in this analysis. Each cell represents the correlation coefficient between two numeric variables, ranging from negative one to positive one. Positive values mean two variables tend to increase together, while negative values mean one tends to decrease as the other increases. It's important to stress that correlation does not imply causation — a strong relationship between two clinical features tells us they're associated, not that one is causing the other. What makes heatmaps so useful in exploratory analysis is that they let us scan many pairwise relationships at once, quickly flagging which feature pairs deserve a closer, more rigorous look.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exploratory analysis, a few general observations stand out, and I want to be careful to present these as patterns worth further investigation, not as confirmed statistical findings. Age appears to be an important factor worth analyzing further in relation to heart disease risk. Chest pain type seems to provide meaningful information that may help distinguish between patient groups. More broadly, it's clear that multiple clinical features need to be interpreted together rather than in isolation, since heart disease risk is multifactorial. Most importantly, this stage reinforces why exploratory data analysis matters: it helps identify patterns and relationships before any predictive modeling is attempted, ensuring later modeling work is built on a solid understanding of the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analysis project is without its challenges, and I think it's valuable to be transparent about what came up during this work. Missing values were the first hurdle — some records used non-standard placeholders that needed to be identified and handled carefully. Data preprocessing itself required deliberate, methodical effort to align column names, types, and formats consistently. Several clinical codes, like thalassemia categories or chest pain types, required additional research to interpret correctly. Outlier handling also demanded judgment calls — deciding whether an extreme cholesterol or blood pressure reading was a genuine clinical case or a data quality issue. Across all of this, building a working understanding of the clinical domain was essential to interpreting the data responsibly.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completed a thorough exploratory analysis, the natural next step is predictive modeling, and there are several promising directions to pursue. Logistic regression offers a natural, interpretable starting point for binary classification of heart disease presence. Random forest and XGBoost are ensemble methods that can capture more complex, non-linear relationships between clinical features. Any model built would need rigorous evaluation using metrics like accuracy, precision, recall, and AUC, since clinical reliability matters more than raw accuracy alone. Feature engineering and hyperparameter tuning would further strengthen model performance. Ultimately, the long-term vision is to package these insights into a clinical decision support tool that could meaningfully assist healthcare professionals in practice.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this presentation together: this project walked through a complete exploratory data analysis process, starting from raw clinical data and ending with a clean, well-understood dataset. Along the way, the analysis surfaced meaningful patterns across variables like age, chest pain type, cholesterol, and maximum heart rate, while being careful not to overstate conclusions beyond what the data actually supports. Most importantly, this exploratory work lays the foundation for the next phase of the project — predictive modeling and, eventually, tools that could support clinical decision-making. Thank you for your time and attention throughout this presentation. I'd now like to open the floor for any questions you may have.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3.pn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3.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3.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1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3.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7.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png"/><Relationship Id="rId7"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046720" y="-2286000"/>
            <a:ext cx="6400800" cy="6400800"/>
          </a:xfrm>
          <a:prstGeom prst="ellipse">
            <a:avLst/>
          </a:prstGeom>
          <a:solidFill>
            <a:srgbClr val="13294B"/>
          </a:solidFill>
          <a:ln/>
        </p:spPr>
      </p:sp>
      <p:sp>
        <p:nvSpPr>
          <p:cNvPr id="3" name="Shape 1"/>
          <p:cNvSpPr/>
          <p:nvPr/>
        </p:nvSpPr>
        <p:spPr>
          <a:xfrm>
            <a:off x="9418320" y="3840480"/>
            <a:ext cx="4572000" cy="4572000"/>
          </a:xfrm>
          <a:prstGeom prst="ellipse">
            <a:avLst/>
          </a:prstGeom>
          <a:solidFill>
            <a:srgbClr val="081730"/>
          </a:solidFill>
          <a:ln/>
        </p:spPr>
      </p:sp>
      <p:pic>
        <p:nvPicPr>
          <p:cNvPr id="4" name="Image 0" descr="preencoded.png"/>
          <p:cNvPicPr>
            <a:picLocks noChangeAspect="1"/>
          </p:cNvPicPr>
          <p:nvPr/>
        </p:nvPicPr>
        <p:blipFill>
          <a:blip r:embed="rId3">
            <a:alphaModFix amt="85000"/>
          </a:blip>
          <a:stretch>
            <a:fillRect/>
          </a:stretch>
        </p:blipFill>
        <p:spPr>
          <a:xfrm>
            <a:off x="9144000" y="1463040"/>
            <a:ext cx="2194560" cy="2194560"/>
          </a:xfrm>
          <a:prstGeom prst="rect">
            <a:avLst/>
          </a:prstGeom>
        </p:spPr>
      </p:pic>
      <p:sp>
        <p:nvSpPr>
          <p:cNvPr id="5" name="Text 2"/>
          <p:cNvSpPr/>
          <p:nvPr/>
        </p:nvSpPr>
        <p:spPr>
          <a:xfrm>
            <a:off x="822960" y="1874520"/>
            <a:ext cx="7772400" cy="320040"/>
          </a:xfrm>
          <a:prstGeom prst="rect">
            <a:avLst/>
          </a:prstGeom>
          <a:noFill/>
          <a:ln/>
        </p:spPr>
        <p:txBody>
          <a:bodyPr wrap="square" lIns="0" tIns="0" rIns="0" bIns="0" rtlCol="0" anchor="ctr"/>
          <a:lstStyle/>
          <a:p>
            <a:pPr marL="0" indent="0">
              <a:buNone/>
            </a:pPr>
            <a:r>
              <a:rPr lang="en-US" sz="1300" b="1" kern="0" spc="300" dirty="0">
                <a:solidFill>
                  <a:srgbClr val="12A5A8"/>
                </a:solidFill>
                <a:latin typeface="Calibri" pitchFamily="34" charset="0"/>
                <a:ea typeface="Calibri" pitchFamily="34" charset="-122"/>
                <a:cs typeface="Calibri" pitchFamily="34" charset="-120"/>
              </a:rPr>
              <a:t>INTERNSHIP PROJECT  ·  DATA ANALYTICS</a:t>
            </a:r>
            <a:endParaRPr lang="en-US" sz="1300" dirty="0"/>
          </a:p>
        </p:txBody>
      </p:sp>
      <p:sp>
        <p:nvSpPr>
          <p:cNvPr id="6" name="Text 3"/>
          <p:cNvSpPr/>
          <p:nvPr/>
        </p:nvSpPr>
        <p:spPr>
          <a:xfrm>
            <a:off x="822960" y="2240280"/>
            <a:ext cx="877824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Heart Disease Risk Analysis</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using Exploratory Data Analysis</a:t>
            </a:r>
            <a:endParaRPr lang="en-US" sz="4000" dirty="0"/>
          </a:p>
        </p:txBody>
      </p:sp>
      <p:sp>
        <p:nvSpPr>
          <p:cNvPr id="7" name="Text 4"/>
          <p:cNvSpPr/>
          <p:nvPr/>
        </p:nvSpPr>
        <p:spPr>
          <a:xfrm>
            <a:off x="822960" y="3977640"/>
            <a:ext cx="7863840" cy="457200"/>
          </a:xfrm>
          <a:prstGeom prst="rect">
            <a:avLst/>
          </a:prstGeom>
          <a:noFill/>
          <a:ln/>
        </p:spPr>
        <p:txBody>
          <a:bodyPr wrap="square" lIns="0" tIns="0" rIns="0" bIns="0" rtlCol="0" anchor="ctr"/>
          <a:lstStyle/>
          <a:p>
            <a:pPr marL="0" indent="0">
              <a:buNone/>
            </a:pPr>
            <a:r>
              <a:rPr lang="en-US" sz="1600" i="1" dirty="0">
                <a:solidFill>
                  <a:srgbClr val="9FB0BE"/>
                </a:solidFill>
                <a:latin typeface="Calibri" pitchFamily="34" charset="0"/>
                <a:ea typeface="Calibri" pitchFamily="34" charset="-122"/>
                <a:cs typeface="Calibri" pitchFamily="34" charset="-120"/>
              </a:rPr>
              <a:t>A Clinical Data Exploration Project on the UCI Heart Disease Dataset</a:t>
            </a:r>
            <a:endParaRPr lang="en-US" sz="1600" dirty="0"/>
          </a:p>
        </p:txBody>
      </p:sp>
      <p:sp>
        <p:nvSpPr>
          <p:cNvPr id="8" name="Shape 5"/>
          <p:cNvSpPr/>
          <p:nvPr/>
        </p:nvSpPr>
        <p:spPr>
          <a:xfrm>
            <a:off x="822960" y="4892040"/>
            <a:ext cx="384048" cy="384048"/>
          </a:xfrm>
          <a:prstGeom prst="ellipse">
            <a:avLst/>
          </a:prstGeom>
          <a:solidFill>
            <a:srgbClr val="FFFFFF"/>
          </a:solidFill>
          <a:ln/>
        </p:spPr>
      </p:sp>
      <p:pic>
        <p:nvPicPr>
          <p:cNvPr id="9" name="Image 1" descr="preencoded.png"/>
          <p:cNvPicPr>
            <a:picLocks noChangeAspect="1"/>
          </p:cNvPicPr>
          <p:nvPr/>
        </p:nvPicPr>
        <p:blipFill>
          <a:blip r:embed="rId4"/>
          <a:stretch>
            <a:fillRect/>
          </a:stretch>
        </p:blipFill>
        <p:spPr>
          <a:xfrm>
            <a:off x="905256" y="4974336"/>
            <a:ext cx="219456" cy="219456"/>
          </a:xfrm>
          <a:prstGeom prst="rect">
            <a:avLst/>
          </a:prstGeom>
        </p:spPr>
      </p:pic>
      <p:sp>
        <p:nvSpPr>
          <p:cNvPr id="10" name="Text 6"/>
          <p:cNvSpPr/>
          <p:nvPr/>
        </p:nvSpPr>
        <p:spPr>
          <a:xfrm>
            <a:off x="1298448" y="4873752"/>
            <a:ext cx="2743200" cy="42062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Presented by: </a:t>
            </a:r>
            <a:r>
              <a:rPr lang="en-US" sz="1050" dirty="0" err="1" smtClean="0">
                <a:solidFill>
                  <a:srgbClr val="FFFFFF"/>
                </a:solidFill>
                <a:latin typeface="Calibri" pitchFamily="34" charset="0"/>
                <a:ea typeface="Calibri" pitchFamily="34" charset="-122"/>
                <a:cs typeface="Calibri" pitchFamily="34" charset="-120"/>
              </a:rPr>
              <a:t>Sneha</a:t>
            </a:r>
            <a:r>
              <a:rPr lang="en-US" sz="1050" dirty="0" smtClean="0">
                <a:solidFill>
                  <a:srgbClr val="FFFFFF"/>
                </a:solidFill>
                <a:latin typeface="Calibri" pitchFamily="34" charset="0"/>
                <a:ea typeface="Calibri" pitchFamily="34" charset="-122"/>
                <a:cs typeface="Calibri" pitchFamily="34" charset="-120"/>
              </a:rPr>
              <a:t> </a:t>
            </a:r>
            <a:r>
              <a:rPr lang="en-US" sz="1050" dirty="0" err="1" smtClean="0">
                <a:solidFill>
                  <a:srgbClr val="FFFFFF"/>
                </a:solidFill>
                <a:latin typeface="Calibri" pitchFamily="34" charset="0"/>
                <a:ea typeface="Calibri" pitchFamily="34" charset="-122"/>
                <a:cs typeface="Calibri" pitchFamily="34" charset="-120"/>
              </a:rPr>
              <a:t>Verma</a:t>
            </a:r>
            <a:endParaRPr lang="en-US" sz="1050" dirty="0"/>
          </a:p>
        </p:txBody>
      </p:sp>
      <p:sp>
        <p:nvSpPr>
          <p:cNvPr id="11" name="Shape 7"/>
          <p:cNvSpPr/>
          <p:nvPr/>
        </p:nvSpPr>
        <p:spPr>
          <a:xfrm>
            <a:off x="4069080" y="4892040"/>
            <a:ext cx="384048" cy="384048"/>
          </a:xfrm>
          <a:prstGeom prst="ellipse">
            <a:avLst/>
          </a:prstGeom>
          <a:solidFill>
            <a:srgbClr val="FFFFFF"/>
          </a:solidFill>
          <a:ln/>
        </p:spPr>
      </p:sp>
      <p:pic>
        <p:nvPicPr>
          <p:cNvPr id="12" name="Image 2" descr="preencoded.png"/>
          <p:cNvPicPr>
            <a:picLocks noChangeAspect="1"/>
          </p:cNvPicPr>
          <p:nvPr/>
        </p:nvPicPr>
        <p:blipFill>
          <a:blip r:embed="rId5"/>
          <a:stretch>
            <a:fillRect/>
          </a:stretch>
        </p:blipFill>
        <p:spPr>
          <a:xfrm>
            <a:off x="4151376" y="4974336"/>
            <a:ext cx="219456" cy="219456"/>
          </a:xfrm>
          <a:prstGeom prst="rect">
            <a:avLst/>
          </a:prstGeom>
        </p:spPr>
      </p:pic>
      <p:sp>
        <p:nvSpPr>
          <p:cNvPr id="13" name="Text 8"/>
          <p:cNvSpPr/>
          <p:nvPr/>
        </p:nvSpPr>
        <p:spPr>
          <a:xfrm>
            <a:off x="4544568" y="4873752"/>
            <a:ext cx="2743200" cy="42062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Domain: Healthcare Analytics</a:t>
            </a:r>
            <a:endParaRPr lang="en-US" sz="1050" dirty="0"/>
          </a:p>
        </p:txBody>
      </p:sp>
      <p:sp>
        <p:nvSpPr>
          <p:cNvPr id="14" name="Shape 9"/>
          <p:cNvSpPr/>
          <p:nvPr/>
        </p:nvSpPr>
        <p:spPr>
          <a:xfrm>
            <a:off x="7315200" y="4892040"/>
            <a:ext cx="384048" cy="384048"/>
          </a:xfrm>
          <a:prstGeom prst="ellipse">
            <a:avLst/>
          </a:prstGeom>
          <a:solidFill>
            <a:srgbClr val="FFFFFF"/>
          </a:solidFill>
          <a:ln/>
        </p:spPr>
      </p:sp>
      <p:pic>
        <p:nvPicPr>
          <p:cNvPr id="15" name="Image 3" descr="preencoded.png"/>
          <p:cNvPicPr>
            <a:picLocks noChangeAspect="1"/>
          </p:cNvPicPr>
          <p:nvPr/>
        </p:nvPicPr>
        <p:blipFill>
          <a:blip r:embed="rId6"/>
          <a:stretch>
            <a:fillRect/>
          </a:stretch>
        </p:blipFill>
        <p:spPr>
          <a:xfrm>
            <a:off x="7397496" y="4974336"/>
            <a:ext cx="219456" cy="219456"/>
          </a:xfrm>
          <a:prstGeom prst="rect">
            <a:avLst/>
          </a:prstGeom>
        </p:spPr>
      </p:pic>
      <p:sp>
        <p:nvSpPr>
          <p:cNvPr id="16" name="Text 10"/>
          <p:cNvSpPr/>
          <p:nvPr/>
        </p:nvSpPr>
        <p:spPr>
          <a:xfrm>
            <a:off x="7790687" y="4873752"/>
            <a:ext cx="3139779" cy="420624"/>
          </a:xfrm>
          <a:prstGeom prst="rect">
            <a:avLst/>
          </a:prstGeom>
          <a:noFill/>
          <a:ln/>
        </p:spPr>
        <p:txBody>
          <a:bodyPr wrap="square" lIns="0" tIns="0" rIns="0" bIns="0" rtlCol="0" anchor="ctr"/>
          <a:lstStyle/>
          <a:p>
            <a:r>
              <a:rPr lang="en-US" sz="1050" dirty="0">
                <a:solidFill>
                  <a:srgbClr val="FFFFFF"/>
                </a:solidFill>
                <a:latin typeface="Calibri" pitchFamily="34" charset="0"/>
                <a:ea typeface="Calibri" pitchFamily="34" charset="-122"/>
                <a:cs typeface="Calibri" pitchFamily="34" charset="-120"/>
              </a:rPr>
              <a:t>Tool: Python · Pandas · </a:t>
            </a:r>
            <a:r>
              <a:rPr lang="en-US" sz="1050" dirty="0" err="1" smtClean="0">
                <a:solidFill>
                  <a:srgbClr val="FFFFFF"/>
                </a:solidFill>
                <a:latin typeface="Calibri" pitchFamily="34" charset="0"/>
                <a:ea typeface="Calibri" pitchFamily="34" charset="-122"/>
                <a:cs typeface="Calibri" pitchFamily="34" charset="-120"/>
              </a:rPr>
              <a:t>Seaborn</a:t>
            </a:r>
            <a:r>
              <a:rPr lang="en-US" sz="1050" dirty="0">
                <a:solidFill>
                  <a:srgbClr val="FFFFFF"/>
                </a:solidFill>
                <a:latin typeface="Calibri" pitchFamily="34" charset="0"/>
                <a:ea typeface="Calibri" pitchFamily="34" charset="-122"/>
                <a:cs typeface="Calibri" pitchFamily="34" charset="-120"/>
              </a:rPr>
              <a:t> · </a:t>
            </a:r>
            <a:r>
              <a:rPr lang="en-IN" sz="1050" dirty="0" err="1">
                <a:solidFill>
                  <a:schemeClr val="bg1"/>
                </a:solidFill>
              </a:rPr>
              <a:t>N</a:t>
            </a:r>
            <a:r>
              <a:rPr lang="en-IN" sz="1050" dirty="0" err="1" smtClean="0">
                <a:solidFill>
                  <a:schemeClr val="bg1"/>
                </a:solidFill>
              </a:rPr>
              <a:t>umpy</a:t>
            </a:r>
            <a:r>
              <a:rPr lang="en-IN" sz="1050" dirty="0" smtClean="0">
                <a:solidFill>
                  <a:schemeClr val="bg1"/>
                </a:solidFill>
              </a:rPr>
              <a:t> </a:t>
            </a:r>
            <a:r>
              <a:rPr lang="en-US" sz="1050" dirty="0" smtClean="0">
                <a:solidFill>
                  <a:srgbClr val="FFFFFF"/>
                </a:solidFill>
                <a:latin typeface="Calibri" pitchFamily="34" charset="0"/>
                <a:ea typeface="Calibri" pitchFamily="34" charset="-122"/>
                <a:cs typeface="Calibri" pitchFamily="34" charset="-120"/>
              </a:rPr>
              <a:t>· </a:t>
            </a:r>
            <a:r>
              <a:rPr lang="en-IN" sz="1050" dirty="0" err="1">
                <a:solidFill>
                  <a:schemeClr val="bg1"/>
                </a:solidFill>
              </a:rPr>
              <a:t>M</a:t>
            </a:r>
            <a:r>
              <a:rPr lang="en-IN" sz="1050" dirty="0" err="1" smtClean="0">
                <a:solidFill>
                  <a:schemeClr val="bg1"/>
                </a:solidFill>
              </a:rPr>
              <a:t>atplotlib</a:t>
            </a:r>
            <a:endParaRPr lang="en-IN" sz="1050" dirty="0">
              <a:solidFill>
                <a:schemeClr val="bg1"/>
              </a:solidFill>
            </a:endParaRPr>
          </a:p>
          <a:p>
            <a:pPr marL="0" indent="0">
              <a:buNone/>
            </a:pPr>
            <a:endParaRPr lang="en-US" sz="1050" dirty="0"/>
          </a:p>
        </p:txBody>
      </p:sp>
      <p:sp>
        <p:nvSpPr>
          <p:cNvPr id="17" name="Shape 11"/>
          <p:cNvSpPr/>
          <p:nvPr/>
        </p:nvSpPr>
        <p:spPr>
          <a:xfrm>
            <a:off x="822960" y="5989320"/>
            <a:ext cx="10515600" cy="0"/>
          </a:xfrm>
          <a:prstGeom prst="line">
            <a:avLst/>
          </a:prstGeom>
          <a:noFill/>
          <a:ln w="12700">
            <a:solidFill>
              <a:srgbClr val="13294B"/>
            </a:solidFill>
            <a:prstDash val="solid"/>
          </a:ln>
        </p:spPr>
      </p:sp>
      <p:sp>
        <p:nvSpPr>
          <p:cNvPr id="18" name="Text 12"/>
          <p:cNvSpPr/>
          <p:nvPr/>
        </p:nvSpPr>
        <p:spPr>
          <a:xfrm>
            <a:off x="822960" y="6108192"/>
            <a:ext cx="7315200" cy="320040"/>
          </a:xfrm>
          <a:prstGeom prst="rect">
            <a:avLst/>
          </a:prstGeom>
          <a:noFill/>
          <a:ln/>
        </p:spPr>
        <p:txBody>
          <a:bodyPr wrap="square" lIns="0" tIns="0" rIns="0" bIns="0" rtlCol="0" anchor="ctr"/>
          <a:lstStyle/>
          <a:p>
            <a:pPr marL="0" indent="0">
              <a:buNone/>
            </a:pPr>
            <a:r>
              <a:rPr lang="en-US" sz="1050" dirty="0">
                <a:solidFill>
                  <a:srgbClr val="9FB0BE"/>
                </a:solidFill>
                <a:latin typeface="Calibri" pitchFamily="34" charset="0"/>
                <a:ea typeface="Calibri" pitchFamily="34" charset="-122"/>
                <a:cs typeface="Calibri" pitchFamily="34" charset="-120"/>
              </a:rPr>
              <a:t>Internship Evaluation Presentation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Why Heart Disease Analysis Matters</a:t>
            </a:r>
            <a:endParaRPr lang="en-US" sz="3200" dirty="0"/>
          </a:p>
        </p:txBody>
      </p:sp>
      <p:sp>
        <p:nvSpPr>
          <p:cNvPr id="4" name="Shape 2"/>
          <p:cNvSpPr/>
          <p:nvPr/>
        </p:nvSpPr>
        <p:spPr>
          <a:xfrm>
            <a:off x="548640" y="1737360"/>
            <a:ext cx="512064" cy="512064"/>
          </a:xfrm>
          <a:prstGeom prst="ellipse">
            <a:avLst/>
          </a:prstGeom>
          <a:solidFill>
            <a:srgbClr val="F4F7F9"/>
          </a:solidFill>
          <a:ln/>
        </p:spPr>
      </p:sp>
      <p:pic>
        <p:nvPicPr>
          <p:cNvPr id="5" name="Image 0" descr="preencoded.png"/>
          <p:cNvPicPr>
            <a:picLocks noChangeAspect="1"/>
          </p:cNvPicPr>
          <p:nvPr/>
        </p:nvPicPr>
        <p:blipFill>
          <a:blip r:embed="rId3"/>
          <a:stretch>
            <a:fillRect/>
          </a:stretch>
        </p:blipFill>
        <p:spPr>
          <a:xfrm>
            <a:off x="663854" y="1852574"/>
            <a:ext cx="281635" cy="281635"/>
          </a:xfrm>
          <a:prstGeom prst="rect">
            <a:avLst/>
          </a:prstGeom>
        </p:spPr>
      </p:pic>
      <p:sp>
        <p:nvSpPr>
          <p:cNvPr id="6" name="Text 3"/>
          <p:cNvSpPr/>
          <p:nvPr/>
        </p:nvSpPr>
        <p:spPr>
          <a:xfrm>
            <a:off x="1234440" y="1691640"/>
            <a:ext cx="5257800" cy="292608"/>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What is Heart Disease?</a:t>
            </a:r>
            <a:endParaRPr lang="en-US" sz="1450" dirty="0"/>
          </a:p>
        </p:txBody>
      </p:sp>
      <p:sp>
        <p:nvSpPr>
          <p:cNvPr id="7" name="Text 4"/>
          <p:cNvSpPr/>
          <p:nvPr/>
        </p:nvSpPr>
        <p:spPr>
          <a:xfrm>
            <a:off x="1234440" y="1993392"/>
            <a:ext cx="5257800" cy="731520"/>
          </a:xfrm>
          <a:prstGeom prst="rect">
            <a:avLst/>
          </a:prstGeom>
          <a:noFill/>
          <a:ln/>
        </p:spPr>
        <p:txBody>
          <a:bodyPr wrap="square" lIns="0" tIns="0" rIns="0" bIns="0" rtlCol="0" anchor="ctr"/>
          <a:lstStyle/>
          <a:p>
            <a:pPr marL="0" indent="0">
              <a:lnSpc>
                <a:spcPct val="112000"/>
              </a:lnSpc>
              <a:buNone/>
            </a:pPr>
            <a:r>
              <a:rPr lang="en-US" sz="1100" dirty="0">
                <a:solidFill>
                  <a:srgbClr val="5A6B7B"/>
                </a:solidFill>
                <a:latin typeface="Calibri" pitchFamily="34" charset="0"/>
                <a:ea typeface="Calibri" pitchFamily="34" charset="-122"/>
                <a:cs typeface="Calibri" pitchFamily="34" charset="-120"/>
              </a:rPr>
              <a:t>A group of cardiovascular conditions affecting the heart's structure and function, including coronary artery disease, arrhythmias, and related disorders.</a:t>
            </a:r>
            <a:endParaRPr lang="en-US" sz="1100" dirty="0"/>
          </a:p>
        </p:txBody>
      </p:sp>
      <p:sp>
        <p:nvSpPr>
          <p:cNvPr id="8" name="Shape 5"/>
          <p:cNvSpPr/>
          <p:nvPr/>
        </p:nvSpPr>
        <p:spPr>
          <a:xfrm>
            <a:off x="548640" y="2816352"/>
            <a:ext cx="512064" cy="512064"/>
          </a:xfrm>
          <a:prstGeom prst="ellipse">
            <a:avLst/>
          </a:prstGeom>
          <a:solidFill>
            <a:srgbClr val="F4F7F9"/>
          </a:solidFill>
          <a:ln/>
        </p:spPr>
      </p:sp>
      <p:pic>
        <p:nvPicPr>
          <p:cNvPr id="9" name="Image 1" descr="preencoded.png"/>
          <p:cNvPicPr>
            <a:picLocks noChangeAspect="1"/>
          </p:cNvPicPr>
          <p:nvPr/>
        </p:nvPicPr>
        <p:blipFill>
          <a:blip r:embed="rId4"/>
          <a:stretch>
            <a:fillRect/>
          </a:stretch>
        </p:blipFill>
        <p:spPr>
          <a:xfrm>
            <a:off x="663854" y="2931566"/>
            <a:ext cx="281635" cy="281635"/>
          </a:xfrm>
          <a:prstGeom prst="rect">
            <a:avLst/>
          </a:prstGeom>
        </p:spPr>
      </p:pic>
      <p:sp>
        <p:nvSpPr>
          <p:cNvPr id="10" name="Text 6"/>
          <p:cNvSpPr/>
          <p:nvPr/>
        </p:nvSpPr>
        <p:spPr>
          <a:xfrm>
            <a:off x="1234440" y="2770632"/>
            <a:ext cx="5257800" cy="292608"/>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Why Early Analysis Matters</a:t>
            </a:r>
            <a:endParaRPr lang="en-US" sz="1450" dirty="0"/>
          </a:p>
        </p:txBody>
      </p:sp>
      <p:sp>
        <p:nvSpPr>
          <p:cNvPr id="11" name="Text 7"/>
          <p:cNvSpPr/>
          <p:nvPr/>
        </p:nvSpPr>
        <p:spPr>
          <a:xfrm>
            <a:off x="1234440" y="3072384"/>
            <a:ext cx="5257800" cy="731520"/>
          </a:xfrm>
          <a:prstGeom prst="rect">
            <a:avLst/>
          </a:prstGeom>
          <a:noFill/>
          <a:ln/>
        </p:spPr>
        <p:txBody>
          <a:bodyPr wrap="square" lIns="0" tIns="0" rIns="0" bIns="0" rtlCol="0" anchor="ctr"/>
          <a:lstStyle/>
          <a:p>
            <a:pPr marL="0" indent="0">
              <a:lnSpc>
                <a:spcPct val="112000"/>
              </a:lnSpc>
              <a:buNone/>
            </a:pPr>
            <a:r>
              <a:rPr lang="en-US" sz="1100" dirty="0">
                <a:solidFill>
                  <a:srgbClr val="5A6B7B"/>
                </a:solidFill>
                <a:latin typeface="Calibri" pitchFamily="34" charset="0"/>
                <a:ea typeface="Calibri" pitchFamily="34" charset="-122"/>
                <a:cs typeface="Calibri" pitchFamily="34" charset="-120"/>
              </a:rPr>
              <a:t>Cardiovascular disease often develops silently. Identifying patterns in clinical data early can support timely intervention before symptoms become severe.</a:t>
            </a:r>
            <a:endParaRPr lang="en-US" sz="1100" dirty="0"/>
          </a:p>
        </p:txBody>
      </p:sp>
      <p:sp>
        <p:nvSpPr>
          <p:cNvPr id="12" name="Shape 8"/>
          <p:cNvSpPr/>
          <p:nvPr/>
        </p:nvSpPr>
        <p:spPr>
          <a:xfrm>
            <a:off x="548640" y="3895344"/>
            <a:ext cx="512064" cy="512064"/>
          </a:xfrm>
          <a:prstGeom prst="ellipse">
            <a:avLst/>
          </a:prstGeom>
          <a:solidFill>
            <a:srgbClr val="F4F7F9"/>
          </a:solidFill>
          <a:ln/>
        </p:spPr>
      </p:sp>
      <p:pic>
        <p:nvPicPr>
          <p:cNvPr id="13" name="Image 2" descr="preencoded.png"/>
          <p:cNvPicPr>
            <a:picLocks noChangeAspect="1"/>
          </p:cNvPicPr>
          <p:nvPr/>
        </p:nvPicPr>
        <p:blipFill>
          <a:blip r:embed="rId5"/>
          <a:stretch>
            <a:fillRect/>
          </a:stretch>
        </p:blipFill>
        <p:spPr>
          <a:xfrm>
            <a:off x="663854" y="4010558"/>
            <a:ext cx="281635" cy="281635"/>
          </a:xfrm>
          <a:prstGeom prst="rect">
            <a:avLst/>
          </a:prstGeom>
        </p:spPr>
      </p:pic>
      <p:sp>
        <p:nvSpPr>
          <p:cNvPr id="14" name="Text 9"/>
          <p:cNvSpPr/>
          <p:nvPr/>
        </p:nvSpPr>
        <p:spPr>
          <a:xfrm>
            <a:off x="1234440" y="3849624"/>
            <a:ext cx="5257800" cy="292608"/>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How Data Analysis Helps</a:t>
            </a:r>
            <a:endParaRPr lang="en-US" sz="1450" dirty="0"/>
          </a:p>
        </p:txBody>
      </p:sp>
      <p:sp>
        <p:nvSpPr>
          <p:cNvPr id="15" name="Text 10"/>
          <p:cNvSpPr/>
          <p:nvPr/>
        </p:nvSpPr>
        <p:spPr>
          <a:xfrm>
            <a:off x="1234440" y="4151376"/>
            <a:ext cx="5257800" cy="731520"/>
          </a:xfrm>
          <a:prstGeom prst="rect">
            <a:avLst/>
          </a:prstGeom>
          <a:noFill/>
          <a:ln/>
        </p:spPr>
        <p:txBody>
          <a:bodyPr wrap="square" lIns="0" tIns="0" rIns="0" bIns="0" rtlCol="0" anchor="ctr"/>
          <a:lstStyle/>
          <a:p>
            <a:pPr marL="0" indent="0">
              <a:lnSpc>
                <a:spcPct val="112000"/>
              </a:lnSpc>
              <a:buNone/>
            </a:pPr>
            <a:r>
              <a:rPr lang="en-US" sz="1100" dirty="0">
                <a:solidFill>
                  <a:srgbClr val="5A6B7B"/>
                </a:solidFill>
                <a:latin typeface="Calibri" pitchFamily="34" charset="0"/>
                <a:ea typeface="Calibri" pitchFamily="34" charset="-122"/>
                <a:cs typeface="Calibri" pitchFamily="34" charset="-120"/>
              </a:rPr>
              <a:t>Structured analysis of patient data reveals relationships between clinical indicators, helping healthcare professionals prioritize risk factors worth monitoring.</a:t>
            </a:r>
            <a:endParaRPr lang="en-US" sz="1100" dirty="0"/>
          </a:p>
        </p:txBody>
      </p:sp>
      <p:sp>
        <p:nvSpPr>
          <p:cNvPr id="16" name="Shape 11"/>
          <p:cNvSpPr/>
          <p:nvPr/>
        </p:nvSpPr>
        <p:spPr>
          <a:xfrm>
            <a:off x="548640" y="4974336"/>
            <a:ext cx="512064" cy="512064"/>
          </a:xfrm>
          <a:prstGeom prst="ellipse">
            <a:avLst/>
          </a:prstGeom>
          <a:solidFill>
            <a:srgbClr val="F4F7F9"/>
          </a:solidFill>
          <a:ln/>
        </p:spPr>
      </p:sp>
      <p:pic>
        <p:nvPicPr>
          <p:cNvPr id="17" name="Image 3" descr="preencoded.png"/>
          <p:cNvPicPr>
            <a:picLocks noChangeAspect="1"/>
          </p:cNvPicPr>
          <p:nvPr/>
        </p:nvPicPr>
        <p:blipFill>
          <a:blip r:embed="rId6"/>
          <a:stretch>
            <a:fillRect/>
          </a:stretch>
        </p:blipFill>
        <p:spPr>
          <a:xfrm>
            <a:off x="663854" y="5089550"/>
            <a:ext cx="281635" cy="281635"/>
          </a:xfrm>
          <a:prstGeom prst="rect">
            <a:avLst/>
          </a:prstGeom>
        </p:spPr>
      </p:pic>
      <p:sp>
        <p:nvSpPr>
          <p:cNvPr id="18" name="Text 12"/>
          <p:cNvSpPr/>
          <p:nvPr/>
        </p:nvSpPr>
        <p:spPr>
          <a:xfrm>
            <a:off x="1234440" y="4928616"/>
            <a:ext cx="5257800" cy="292608"/>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Business &amp; Healthcare Significance</a:t>
            </a:r>
            <a:endParaRPr lang="en-US" sz="1450" dirty="0"/>
          </a:p>
        </p:txBody>
      </p:sp>
      <p:sp>
        <p:nvSpPr>
          <p:cNvPr id="19" name="Text 13"/>
          <p:cNvSpPr/>
          <p:nvPr/>
        </p:nvSpPr>
        <p:spPr>
          <a:xfrm>
            <a:off x="1234440" y="5230368"/>
            <a:ext cx="5257800" cy="731520"/>
          </a:xfrm>
          <a:prstGeom prst="rect">
            <a:avLst/>
          </a:prstGeom>
          <a:noFill/>
          <a:ln/>
        </p:spPr>
        <p:txBody>
          <a:bodyPr wrap="square" lIns="0" tIns="0" rIns="0" bIns="0" rtlCol="0" anchor="ctr"/>
          <a:lstStyle/>
          <a:p>
            <a:pPr marL="0" indent="0">
              <a:lnSpc>
                <a:spcPct val="112000"/>
              </a:lnSpc>
              <a:buNone/>
            </a:pPr>
            <a:r>
              <a:rPr lang="en-US" sz="1100" dirty="0">
                <a:solidFill>
                  <a:srgbClr val="5A6B7B"/>
                </a:solidFill>
                <a:latin typeface="Calibri" pitchFamily="34" charset="0"/>
                <a:ea typeface="Calibri" pitchFamily="34" charset="-122"/>
                <a:cs typeface="Calibri" pitchFamily="34" charset="-120"/>
              </a:rPr>
              <a:t>Data-driven risk profiling reduces diagnostic delays, supports preventive care strategies, and lays the groundwork for predictive clinical decision tools.</a:t>
            </a:r>
            <a:endParaRPr lang="en-US" sz="1100" dirty="0"/>
          </a:p>
        </p:txBody>
      </p:sp>
      <p:sp>
        <p:nvSpPr>
          <p:cNvPr id="20" name="Shape 14"/>
          <p:cNvSpPr/>
          <p:nvPr/>
        </p:nvSpPr>
        <p:spPr>
          <a:xfrm>
            <a:off x="7001477" y="1728216"/>
            <a:ext cx="4754880" cy="4466844"/>
          </a:xfrm>
          <a:prstGeom prst="roundRect">
            <a:avLst>
              <a:gd name="adj" fmla="val 1649"/>
            </a:avLst>
          </a:prstGeom>
          <a:solidFill>
            <a:srgbClr val="0B1F3A"/>
          </a:solidFill>
          <a:ln/>
          <a:effectLst>
            <a:outerShdw blurRad="101600" dist="38100" dir="2700000" algn="bl" rotWithShape="0">
              <a:srgbClr val="0B1F3A">
                <a:alpha val="12000"/>
              </a:srgbClr>
            </a:outerShdw>
          </a:effectLst>
        </p:spPr>
      </p:sp>
      <p:pic>
        <p:nvPicPr>
          <p:cNvPr id="21" name="Image 4" descr="preencoded.png"/>
          <p:cNvPicPr>
            <a:picLocks noChangeAspect="1"/>
          </p:cNvPicPr>
          <p:nvPr/>
        </p:nvPicPr>
        <p:blipFill>
          <a:blip r:embed="rId7">
            <a:alphaModFix amt="92000"/>
          </a:blip>
          <a:stretch>
            <a:fillRect/>
          </a:stretch>
        </p:blipFill>
        <p:spPr>
          <a:xfrm>
            <a:off x="8732520" y="2606040"/>
            <a:ext cx="1097280" cy="1097280"/>
          </a:xfrm>
          <a:prstGeom prst="rect">
            <a:avLst/>
          </a:prstGeom>
        </p:spPr>
      </p:pic>
      <p:sp>
        <p:nvSpPr>
          <p:cNvPr id="22" name="Text 15"/>
          <p:cNvSpPr/>
          <p:nvPr/>
        </p:nvSpPr>
        <p:spPr>
          <a:xfrm>
            <a:off x="7269480" y="3977640"/>
            <a:ext cx="4023360" cy="73152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 Insert Medical / Healthcare</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Illustration Here ]</a:t>
            </a:r>
            <a:endParaRPr lang="en-US" sz="1300" dirty="0"/>
          </a:p>
        </p:txBody>
      </p:sp>
      <p:sp>
        <p:nvSpPr>
          <p:cNvPr id="23" name="Text 16"/>
          <p:cNvSpPr/>
          <p:nvPr/>
        </p:nvSpPr>
        <p:spPr>
          <a:xfrm>
            <a:off x="7269480" y="4754880"/>
            <a:ext cx="4023360" cy="548640"/>
          </a:xfrm>
          <a:prstGeom prst="rect">
            <a:avLst/>
          </a:prstGeom>
          <a:noFill/>
          <a:ln/>
        </p:spPr>
        <p:txBody>
          <a:bodyPr wrap="square" lIns="0" tIns="0" rIns="0" bIns="0" rtlCol="0" anchor="ctr"/>
          <a:lstStyle/>
          <a:p>
            <a:pPr marL="0" indent="0" algn="ctr">
              <a:buNone/>
            </a:pPr>
            <a:r>
              <a:rPr lang="en-US" sz="1000" dirty="0">
                <a:solidFill>
                  <a:srgbClr val="9FB0BE"/>
                </a:solidFill>
                <a:latin typeface="Calibri" pitchFamily="34" charset="0"/>
                <a:ea typeface="Calibri" pitchFamily="34" charset="-122"/>
                <a:cs typeface="Calibri" pitchFamily="34" charset="-120"/>
              </a:rPr>
              <a:t>Suggested: doctor reviewing patient vitals, ECG strip, or heart anatomy graphic</a:t>
            </a:r>
            <a:endParaRPr lang="en-US" sz="1000" dirty="0"/>
          </a:p>
        </p:txBody>
      </p:sp>
      <p:sp>
        <p:nvSpPr>
          <p:cNvPr id="24" name="Shape 17"/>
          <p:cNvSpPr/>
          <p:nvPr/>
        </p:nvSpPr>
        <p:spPr>
          <a:xfrm>
            <a:off x="7490848" y="1915668"/>
            <a:ext cx="3840480" cy="594360"/>
          </a:xfrm>
          <a:prstGeom prst="roundRect">
            <a:avLst>
              <a:gd name="adj" fmla="val 9231"/>
            </a:avLst>
          </a:prstGeom>
          <a:solidFill>
            <a:srgbClr val="13294B"/>
          </a:solidFill>
          <a:ln/>
        </p:spPr>
      </p:sp>
      <p:sp>
        <p:nvSpPr>
          <p:cNvPr id="25" name="Text 18"/>
          <p:cNvSpPr/>
          <p:nvPr/>
        </p:nvSpPr>
        <p:spPr>
          <a:xfrm>
            <a:off x="7589520" y="5212080"/>
            <a:ext cx="3383280" cy="502920"/>
          </a:xfrm>
          <a:prstGeom prst="rect">
            <a:avLst/>
          </a:prstGeom>
          <a:noFill/>
          <a:ln/>
        </p:spPr>
        <p:txBody>
          <a:bodyPr wrap="square" lIns="0" tIns="0" rIns="0" bIns="0" rtlCol="0" anchor="ctr"/>
          <a:lstStyle/>
          <a:p>
            <a:pPr marL="0" indent="0" algn="ctr">
              <a:buNone/>
            </a:pPr>
            <a:r>
              <a:rPr lang="en-US" sz="1050" i="1" dirty="0">
                <a:solidFill>
                  <a:srgbClr val="FFFFFF"/>
                </a:solidFill>
                <a:latin typeface="Calibri" pitchFamily="34" charset="0"/>
                <a:ea typeface="Calibri" pitchFamily="34" charset="-122"/>
                <a:cs typeface="Calibri" pitchFamily="34" charset="-120"/>
              </a:rPr>
              <a:t>Cardiovascular disease remains a leading global health concern</a:t>
            </a:r>
            <a:endParaRPr lang="en-US" sz="1050" dirty="0"/>
          </a:p>
        </p:txBody>
      </p:sp>
      <p:sp>
        <p:nvSpPr>
          <p:cNvPr id="26" name="Text 1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7" name="Text 2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02</a:t>
            </a:r>
            <a:endParaRPr lang="en-US" sz="900" dirty="0"/>
          </a:p>
        </p:txBody>
      </p:sp>
      <p:pic>
        <p:nvPicPr>
          <p:cNvPr id="28" name="Picture 27"/>
          <p:cNvPicPr>
            <a:picLocks noChangeAspect="1"/>
          </p:cNvPicPr>
          <p:nvPr/>
        </p:nvPicPr>
        <p:blipFill rotWithShape="1">
          <a:blip r:embed="rId8">
            <a:extLst>
              <a:ext uri="{28A0092B-C50C-407E-A947-70E740481C1C}">
                <a14:useLocalDpi xmlns:a14="http://schemas.microsoft.com/office/drawing/2010/main" val="0"/>
              </a:ext>
            </a:extLst>
          </a:blip>
          <a:srcRect l="2477" t="470" r="3251" b="711"/>
          <a:stretch/>
        </p:blipFill>
        <p:spPr>
          <a:xfrm>
            <a:off x="6849687" y="1728216"/>
            <a:ext cx="4906670" cy="4586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What This Project Aims to Achieve</a:t>
            </a:r>
            <a:endParaRPr lang="en-US" sz="3200" dirty="0"/>
          </a:p>
        </p:txBody>
      </p:sp>
      <p:sp>
        <p:nvSpPr>
          <p:cNvPr id="4" name="Shape 2"/>
          <p:cNvSpPr/>
          <p:nvPr/>
        </p:nvSpPr>
        <p:spPr>
          <a:xfrm>
            <a:off x="627736" y="1783080"/>
            <a:ext cx="2542032" cy="3566160"/>
          </a:xfrm>
          <a:prstGeom prst="roundRect">
            <a:avLst>
              <a:gd name="adj" fmla="val 2878"/>
            </a:avLst>
          </a:prstGeom>
          <a:solidFill>
            <a:srgbClr val="FFFFFF"/>
          </a:solidFill>
          <a:ln/>
          <a:effectLst>
            <a:outerShdw blurRad="101600" dist="38100" dir="2700000" algn="bl" rotWithShape="0">
              <a:srgbClr val="0B1F3A">
                <a:alpha val="12000"/>
              </a:srgbClr>
            </a:outerShdw>
          </a:effectLst>
        </p:spPr>
      </p:sp>
      <p:sp>
        <p:nvSpPr>
          <p:cNvPr id="5" name="Shape 3"/>
          <p:cNvSpPr/>
          <p:nvPr/>
        </p:nvSpPr>
        <p:spPr>
          <a:xfrm>
            <a:off x="1569568" y="2103120"/>
            <a:ext cx="658368" cy="658368"/>
          </a:xfrm>
          <a:prstGeom prst="ellipse">
            <a:avLst/>
          </a:prstGeom>
          <a:solidFill>
            <a:srgbClr val="0B1F3A"/>
          </a:solidFill>
          <a:ln/>
        </p:spPr>
      </p:sp>
      <p:pic>
        <p:nvPicPr>
          <p:cNvPr id="6" name="Image 0" descr="preencoded.png"/>
          <p:cNvPicPr>
            <a:picLocks noChangeAspect="1"/>
          </p:cNvPicPr>
          <p:nvPr/>
        </p:nvPicPr>
        <p:blipFill>
          <a:blip r:embed="rId3"/>
          <a:stretch>
            <a:fillRect/>
          </a:stretch>
        </p:blipFill>
        <p:spPr>
          <a:xfrm>
            <a:off x="1734160" y="2267712"/>
            <a:ext cx="329184" cy="329184"/>
          </a:xfrm>
          <a:prstGeom prst="rect">
            <a:avLst/>
          </a:prstGeom>
        </p:spPr>
      </p:pic>
      <p:sp>
        <p:nvSpPr>
          <p:cNvPr id="7" name="Text 4"/>
          <p:cNvSpPr/>
          <p:nvPr/>
        </p:nvSpPr>
        <p:spPr>
          <a:xfrm>
            <a:off x="810616" y="2011680"/>
            <a:ext cx="548640" cy="365760"/>
          </a:xfrm>
          <a:prstGeom prst="rect">
            <a:avLst/>
          </a:prstGeom>
          <a:noFill/>
          <a:ln/>
        </p:spPr>
        <p:txBody>
          <a:bodyPr wrap="square" lIns="0" tIns="0" rIns="0" bIns="0" rtlCol="0" anchor="ctr"/>
          <a:lstStyle/>
          <a:p>
            <a:pPr marL="0" indent="0">
              <a:buNone/>
            </a:pPr>
            <a:r>
              <a:rPr lang="en-US" sz="1600" b="1" dirty="0">
                <a:solidFill>
                  <a:srgbClr val="DCE7EE"/>
                </a:solidFill>
                <a:latin typeface="Cambria" pitchFamily="34" charset="0"/>
                <a:ea typeface="Cambria" pitchFamily="34" charset="-122"/>
                <a:cs typeface="Cambria" pitchFamily="34" charset="-120"/>
              </a:rPr>
              <a:t>01</a:t>
            </a:r>
            <a:endParaRPr lang="en-US" sz="1600" dirty="0"/>
          </a:p>
        </p:txBody>
      </p:sp>
      <p:sp>
        <p:nvSpPr>
          <p:cNvPr id="8" name="Text 5"/>
          <p:cNvSpPr/>
          <p:nvPr/>
        </p:nvSpPr>
        <p:spPr>
          <a:xfrm>
            <a:off x="856336" y="2971800"/>
            <a:ext cx="2084832" cy="685800"/>
          </a:xfrm>
          <a:prstGeom prst="rect">
            <a:avLst/>
          </a:prstGeom>
          <a:noFill/>
          <a:ln/>
        </p:spPr>
        <p:txBody>
          <a:bodyPr wrap="square" lIns="0" tIns="0" rIns="0" bIns="0" rtlCol="0" anchor="t"/>
          <a:lstStyle/>
          <a:p>
            <a:pPr marL="0" indent="0" algn="ctr">
              <a:buNone/>
            </a:pPr>
            <a:r>
              <a:rPr lang="en-US" sz="1350" b="1" dirty="0">
                <a:solidFill>
                  <a:srgbClr val="0B1F3A"/>
                </a:solidFill>
                <a:latin typeface="Calibri" pitchFamily="34" charset="0"/>
                <a:ea typeface="Calibri" pitchFamily="34" charset="-122"/>
                <a:cs typeface="Calibri" pitchFamily="34" charset="-120"/>
              </a:rPr>
              <a:t>Understand Patient Characteristics</a:t>
            </a:r>
            <a:endParaRPr lang="en-US" sz="1350" dirty="0"/>
          </a:p>
        </p:txBody>
      </p:sp>
      <p:sp>
        <p:nvSpPr>
          <p:cNvPr id="9" name="Text 6"/>
          <p:cNvSpPr/>
          <p:nvPr/>
        </p:nvSpPr>
        <p:spPr>
          <a:xfrm>
            <a:off x="883768" y="3703320"/>
            <a:ext cx="2029968" cy="15087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Examine demographic and clinical attributes to build a clear picture of the patient population represented in the dataset.</a:t>
            </a:r>
            <a:endParaRPr lang="en-US" sz="1050" dirty="0"/>
          </a:p>
        </p:txBody>
      </p:sp>
      <p:sp>
        <p:nvSpPr>
          <p:cNvPr id="10" name="Shape 7"/>
          <p:cNvSpPr/>
          <p:nvPr/>
        </p:nvSpPr>
        <p:spPr>
          <a:xfrm>
            <a:off x="3425800" y="1783080"/>
            <a:ext cx="2542032" cy="3566160"/>
          </a:xfrm>
          <a:prstGeom prst="roundRect">
            <a:avLst>
              <a:gd name="adj" fmla="val 2878"/>
            </a:avLst>
          </a:prstGeom>
          <a:solidFill>
            <a:srgbClr val="FFFFFF"/>
          </a:solidFill>
          <a:ln/>
          <a:effectLst>
            <a:outerShdw blurRad="101600" dist="38100" dir="2700000" algn="bl" rotWithShape="0">
              <a:srgbClr val="0B1F3A">
                <a:alpha val="12000"/>
              </a:srgbClr>
            </a:outerShdw>
          </a:effectLst>
        </p:spPr>
      </p:sp>
      <p:sp>
        <p:nvSpPr>
          <p:cNvPr id="11" name="Shape 8"/>
          <p:cNvSpPr/>
          <p:nvPr/>
        </p:nvSpPr>
        <p:spPr>
          <a:xfrm>
            <a:off x="4367632" y="2103120"/>
            <a:ext cx="658368" cy="658368"/>
          </a:xfrm>
          <a:prstGeom prst="ellipse">
            <a:avLst/>
          </a:prstGeom>
          <a:solidFill>
            <a:srgbClr val="0B1F3A"/>
          </a:solidFill>
          <a:ln/>
        </p:spPr>
      </p:sp>
      <p:pic>
        <p:nvPicPr>
          <p:cNvPr id="12" name="Image 1" descr="preencoded.png"/>
          <p:cNvPicPr>
            <a:picLocks noChangeAspect="1"/>
          </p:cNvPicPr>
          <p:nvPr/>
        </p:nvPicPr>
        <p:blipFill>
          <a:blip r:embed="rId4"/>
          <a:stretch>
            <a:fillRect/>
          </a:stretch>
        </p:blipFill>
        <p:spPr>
          <a:xfrm>
            <a:off x="4532224" y="2267712"/>
            <a:ext cx="329184" cy="329184"/>
          </a:xfrm>
          <a:prstGeom prst="rect">
            <a:avLst/>
          </a:prstGeom>
        </p:spPr>
      </p:pic>
      <p:sp>
        <p:nvSpPr>
          <p:cNvPr id="13" name="Text 9"/>
          <p:cNvSpPr/>
          <p:nvPr/>
        </p:nvSpPr>
        <p:spPr>
          <a:xfrm>
            <a:off x="3608680" y="2011680"/>
            <a:ext cx="548640" cy="365760"/>
          </a:xfrm>
          <a:prstGeom prst="rect">
            <a:avLst/>
          </a:prstGeom>
          <a:noFill/>
          <a:ln/>
        </p:spPr>
        <p:txBody>
          <a:bodyPr wrap="square" lIns="0" tIns="0" rIns="0" bIns="0" rtlCol="0" anchor="ctr"/>
          <a:lstStyle/>
          <a:p>
            <a:pPr marL="0" indent="0">
              <a:buNone/>
            </a:pPr>
            <a:r>
              <a:rPr lang="en-US" sz="1600" b="1" dirty="0">
                <a:solidFill>
                  <a:srgbClr val="DCE7EE"/>
                </a:solidFill>
                <a:latin typeface="Cambria" pitchFamily="34" charset="0"/>
                <a:ea typeface="Cambria" pitchFamily="34" charset="-122"/>
                <a:cs typeface="Cambria" pitchFamily="34" charset="-120"/>
              </a:rPr>
              <a:t>02</a:t>
            </a:r>
            <a:endParaRPr lang="en-US" sz="1600" dirty="0"/>
          </a:p>
        </p:txBody>
      </p:sp>
      <p:sp>
        <p:nvSpPr>
          <p:cNvPr id="14" name="Text 10"/>
          <p:cNvSpPr/>
          <p:nvPr/>
        </p:nvSpPr>
        <p:spPr>
          <a:xfrm>
            <a:off x="3654400" y="2971800"/>
            <a:ext cx="2084832" cy="685800"/>
          </a:xfrm>
          <a:prstGeom prst="rect">
            <a:avLst/>
          </a:prstGeom>
          <a:noFill/>
          <a:ln/>
        </p:spPr>
        <p:txBody>
          <a:bodyPr wrap="square" lIns="0" tIns="0" rIns="0" bIns="0" rtlCol="0" anchor="t"/>
          <a:lstStyle/>
          <a:p>
            <a:pPr marL="0" indent="0" algn="ctr">
              <a:buNone/>
            </a:pPr>
            <a:r>
              <a:rPr lang="en-US" sz="1350" b="1" dirty="0">
                <a:solidFill>
                  <a:srgbClr val="0B1F3A"/>
                </a:solidFill>
                <a:latin typeface="Calibri" pitchFamily="34" charset="0"/>
                <a:ea typeface="Calibri" pitchFamily="34" charset="-122"/>
                <a:cs typeface="Calibri" pitchFamily="34" charset="-120"/>
              </a:rPr>
              <a:t>Explore Variable Relationships</a:t>
            </a:r>
            <a:endParaRPr lang="en-US" sz="1350" dirty="0"/>
          </a:p>
        </p:txBody>
      </p:sp>
      <p:sp>
        <p:nvSpPr>
          <p:cNvPr id="15" name="Text 11"/>
          <p:cNvSpPr/>
          <p:nvPr/>
        </p:nvSpPr>
        <p:spPr>
          <a:xfrm>
            <a:off x="3681832" y="3703320"/>
            <a:ext cx="2029968" cy="15087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Investigate how features such as age, cholesterol, and heart rate relate to one another and to heart disease presence.</a:t>
            </a:r>
            <a:endParaRPr lang="en-US" sz="1050" dirty="0"/>
          </a:p>
        </p:txBody>
      </p:sp>
      <p:sp>
        <p:nvSpPr>
          <p:cNvPr id="16" name="Shape 12"/>
          <p:cNvSpPr/>
          <p:nvPr/>
        </p:nvSpPr>
        <p:spPr>
          <a:xfrm>
            <a:off x="6223864" y="1783080"/>
            <a:ext cx="2542032" cy="3566160"/>
          </a:xfrm>
          <a:prstGeom prst="roundRect">
            <a:avLst>
              <a:gd name="adj" fmla="val 2878"/>
            </a:avLst>
          </a:prstGeom>
          <a:solidFill>
            <a:srgbClr val="FFFFFF"/>
          </a:solidFill>
          <a:ln/>
          <a:effectLst>
            <a:outerShdw blurRad="101600" dist="38100" dir="2700000" algn="bl" rotWithShape="0">
              <a:srgbClr val="0B1F3A">
                <a:alpha val="12000"/>
              </a:srgbClr>
            </a:outerShdw>
          </a:effectLst>
        </p:spPr>
      </p:sp>
      <p:sp>
        <p:nvSpPr>
          <p:cNvPr id="17" name="Shape 13"/>
          <p:cNvSpPr/>
          <p:nvPr/>
        </p:nvSpPr>
        <p:spPr>
          <a:xfrm>
            <a:off x="7165696" y="2103120"/>
            <a:ext cx="658368" cy="658368"/>
          </a:xfrm>
          <a:prstGeom prst="ellipse">
            <a:avLst/>
          </a:prstGeom>
          <a:solidFill>
            <a:srgbClr val="0B1F3A"/>
          </a:solidFill>
          <a:ln/>
        </p:spPr>
      </p:sp>
      <p:pic>
        <p:nvPicPr>
          <p:cNvPr id="18" name="Image 2" descr="preencoded.png"/>
          <p:cNvPicPr>
            <a:picLocks noChangeAspect="1"/>
          </p:cNvPicPr>
          <p:nvPr/>
        </p:nvPicPr>
        <p:blipFill>
          <a:blip r:embed="rId5"/>
          <a:stretch>
            <a:fillRect/>
          </a:stretch>
        </p:blipFill>
        <p:spPr>
          <a:xfrm>
            <a:off x="7330288" y="2267712"/>
            <a:ext cx="329184" cy="329184"/>
          </a:xfrm>
          <a:prstGeom prst="rect">
            <a:avLst/>
          </a:prstGeom>
        </p:spPr>
      </p:pic>
      <p:sp>
        <p:nvSpPr>
          <p:cNvPr id="19" name="Text 14"/>
          <p:cNvSpPr/>
          <p:nvPr/>
        </p:nvSpPr>
        <p:spPr>
          <a:xfrm>
            <a:off x="6406744" y="2011680"/>
            <a:ext cx="548640" cy="365760"/>
          </a:xfrm>
          <a:prstGeom prst="rect">
            <a:avLst/>
          </a:prstGeom>
          <a:noFill/>
          <a:ln/>
        </p:spPr>
        <p:txBody>
          <a:bodyPr wrap="square" lIns="0" tIns="0" rIns="0" bIns="0" rtlCol="0" anchor="ctr"/>
          <a:lstStyle/>
          <a:p>
            <a:pPr marL="0" indent="0">
              <a:buNone/>
            </a:pPr>
            <a:r>
              <a:rPr lang="en-US" sz="1600" b="1" dirty="0">
                <a:solidFill>
                  <a:srgbClr val="DCE7EE"/>
                </a:solidFill>
                <a:latin typeface="Cambria" pitchFamily="34" charset="0"/>
                <a:ea typeface="Cambria" pitchFamily="34" charset="-122"/>
                <a:cs typeface="Cambria" pitchFamily="34" charset="-120"/>
              </a:rPr>
              <a:t>03</a:t>
            </a:r>
            <a:endParaRPr lang="en-US" sz="1600" dirty="0"/>
          </a:p>
        </p:txBody>
      </p:sp>
      <p:sp>
        <p:nvSpPr>
          <p:cNvPr id="20" name="Text 15"/>
          <p:cNvSpPr/>
          <p:nvPr/>
        </p:nvSpPr>
        <p:spPr>
          <a:xfrm>
            <a:off x="6452464" y="2971800"/>
            <a:ext cx="2084832" cy="685800"/>
          </a:xfrm>
          <a:prstGeom prst="rect">
            <a:avLst/>
          </a:prstGeom>
          <a:noFill/>
          <a:ln/>
        </p:spPr>
        <p:txBody>
          <a:bodyPr wrap="square" lIns="0" tIns="0" rIns="0" bIns="0" rtlCol="0" anchor="t"/>
          <a:lstStyle/>
          <a:p>
            <a:pPr marL="0" indent="0" algn="ctr">
              <a:buNone/>
            </a:pPr>
            <a:r>
              <a:rPr lang="en-US" sz="1350" b="1" dirty="0">
                <a:solidFill>
                  <a:srgbClr val="0B1F3A"/>
                </a:solidFill>
                <a:latin typeface="Calibri" pitchFamily="34" charset="0"/>
                <a:ea typeface="Calibri" pitchFamily="34" charset="-122"/>
                <a:cs typeface="Calibri" pitchFamily="34" charset="-120"/>
              </a:rPr>
              <a:t>Identify Trends &amp; Risk Indicators</a:t>
            </a:r>
            <a:endParaRPr lang="en-US" sz="1350" dirty="0"/>
          </a:p>
        </p:txBody>
      </p:sp>
      <p:sp>
        <p:nvSpPr>
          <p:cNvPr id="21" name="Text 16"/>
          <p:cNvSpPr/>
          <p:nvPr/>
        </p:nvSpPr>
        <p:spPr>
          <a:xfrm>
            <a:off x="6479896" y="3703320"/>
            <a:ext cx="2029968" cy="15087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Surface patterns across the data that may point to clinically meaningful risk indicators worth deeper investigation.</a:t>
            </a:r>
            <a:endParaRPr lang="en-US" sz="1050" dirty="0"/>
          </a:p>
        </p:txBody>
      </p:sp>
      <p:sp>
        <p:nvSpPr>
          <p:cNvPr id="22" name="Shape 17"/>
          <p:cNvSpPr/>
          <p:nvPr/>
        </p:nvSpPr>
        <p:spPr>
          <a:xfrm>
            <a:off x="9021928" y="1783080"/>
            <a:ext cx="2542032" cy="3566160"/>
          </a:xfrm>
          <a:prstGeom prst="roundRect">
            <a:avLst>
              <a:gd name="adj" fmla="val 2878"/>
            </a:avLst>
          </a:prstGeom>
          <a:solidFill>
            <a:srgbClr val="FFFFFF"/>
          </a:solidFill>
          <a:ln/>
          <a:effectLst>
            <a:outerShdw blurRad="101600" dist="38100" dir="2700000" algn="bl" rotWithShape="0">
              <a:srgbClr val="0B1F3A">
                <a:alpha val="12000"/>
              </a:srgbClr>
            </a:outerShdw>
          </a:effectLst>
        </p:spPr>
      </p:sp>
      <p:sp>
        <p:nvSpPr>
          <p:cNvPr id="23" name="Shape 18"/>
          <p:cNvSpPr/>
          <p:nvPr/>
        </p:nvSpPr>
        <p:spPr>
          <a:xfrm>
            <a:off x="9963760" y="2103120"/>
            <a:ext cx="658368" cy="658368"/>
          </a:xfrm>
          <a:prstGeom prst="ellipse">
            <a:avLst/>
          </a:prstGeom>
          <a:solidFill>
            <a:srgbClr val="0B1F3A"/>
          </a:solidFill>
          <a:ln/>
        </p:spPr>
      </p:sp>
      <p:pic>
        <p:nvPicPr>
          <p:cNvPr id="24" name="Image 3" descr="preencoded.png"/>
          <p:cNvPicPr>
            <a:picLocks noChangeAspect="1"/>
          </p:cNvPicPr>
          <p:nvPr/>
        </p:nvPicPr>
        <p:blipFill>
          <a:blip r:embed="rId6"/>
          <a:stretch>
            <a:fillRect/>
          </a:stretch>
        </p:blipFill>
        <p:spPr>
          <a:xfrm>
            <a:off x="10128352" y="2267712"/>
            <a:ext cx="329184" cy="329184"/>
          </a:xfrm>
          <a:prstGeom prst="rect">
            <a:avLst/>
          </a:prstGeom>
        </p:spPr>
      </p:pic>
      <p:sp>
        <p:nvSpPr>
          <p:cNvPr id="25" name="Text 19"/>
          <p:cNvSpPr/>
          <p:nvPr/>
        </p:nvSpPr>
        <p:spPr>
          <a:xfrm>
            <a:off x="9204808" y="2011680"/>
            <a:ext cx="548640" cy="365760"/>
          </a:xfrm>
          <a:prstGeom prst="rect">
            <a:avLst/>
          </a:prstGeom>
          <a:noFill/>
          <a:ln/>
        </p:spPr>
        <p:txBody>
          <a:bodyPr wrap="square" lIns="0" tIns="0" rIns="0" bIns="0" rtlCol="0" anchor="ctr"/>
          <a:lstStyle/>
          <a:p>
            <a:pPr marL="0" indent="0">
              <a:buNone/>
            </a:pPr>
            <a:r>
              <a:rPr lang="en-US" sz="1600" b="1" dirty="0">
                <a:solidFill>
                  <a:srgbClr val="DCE7EE"/>
                </a:solidFill>
                <a:latin typeface="Cambria" pitchFamily="34" charset="0"/>
                <a:ea typeface="Cambria" pitchFamily="34" charset="-122"/>
                <a:cs typeface="Cambria" pitchFamily="34" charset="-120"/>
              </a:rPr>
              <a:t>04</a:t>
            </a:r>
            <a:endParaRPr lang="en-US" sz="1600" dirty="0"/>
          </a:p>
        </p:txBody>
      </p:sp>
      <p:sp>
        <p:nvSpPr>
          <p:cNvPr id="26" name="Text 20"/>
          <p:cNvSpPr/>
          <p:nvPr/>
        </p:nvSpPr>
        <p:spPr>
          <a:xfrm>
            <a:off x="9250528" y="2971800"/>
            <a:ext cx="2084832" cy="685800"/>
          </a:xfrm>
          <a:prstGeom prst="rect">
            <a:avLst/>
          </a:prstGeom>
          <a:noFill/>
          <a:ln/>
        </p:spPr>
        <p:txBody>
          <a:bodyPr wrap="square" lIns="0" tIns="0" rIns="0" bIns="0" rtlCol="0" anchor="t"/>
          <a:lstStyle/>
          <a:p>
            <a:pPr marL="0" indent="0" algn="ctr">
              <a:buNone/>
            </a:pPr>
            <a:r>
              <a:rPr lang="en-US" sz="1350" b="1" dirty="0">
                <a:solidFill>
                  <a:srgbClr val="0B1F3A"/>
                </a:solidFill>
                <a:latin typeface="Calibri" pitchFamily="34" charset="0"/>
                <a:ea typeface="Calibri" pitchFamily="34" charset="-122"/>
                <a:cs typeface="Calibri" pitchFamily="34" charset="-120"/>
              </a:rPr>
              <a:t>Prepare Clean Data for ML</a:t>
            </a:r>
            <a:endParaRPr lang="en-US" sz="1350" dirty="0"/>
          </a:p>
        </p:txBody>
      </p:sp>
      <p:sp>
        <p:nvSpPr>
          <p:cNvPr id="27" name="Text 21"/>
          <p:cNvSpPr/>
          <p:nvPr/>
        </p:nvSpPr>
        <p:spPr>
          <a:xfrm>
            <a:off x="9277960" y="3703320"/>
            <a:ext cx="2029968" cy="1508760"/>
          </a:xfrm>
          <a:prstGeom prst="rect">
            <a:avLst/>
          </a:prstGeom>
          <a:noFill/>
          <a:ln/>
        </p:spPr>
        <p:txBody>
          <a:bodyPr wrap="square" lIns="0" tIns="0" rIns="0" bIns="0" rtlCol="0" anchor="ctr"/>
          <a:lstStyle/>
          <a:p>
            <a:pPr marL="0" indent="0" algn="ctr">
              <a:lnSpc>
                <a:spcPct val="115000"/>
              </a:lnSpc>
              <a:buNone/>
            </a:pPr>
            <a:r>
              <a:rPr lang="en-US" sz="1050" dirty="0">
                <a:solidFill>
                  <a:srgbClr val="5A6B7B"/>
                </a:solidFill>
                <a:latin typeface="Calibri" pitchFamily="34" charset="0"/>
                <a:ea typeface="Calibri" pitchFamily="34" charset="-122"/>
                <a:cs typeface="Calibri" pitchFamily="34" charset="-120"/>
              </a:rPr>
              <a:t>Establish a clean, well-understood dataset that is ready to support future predictive modeling work.</a:t>
            </a:r>
            <a:endParaRPr lang="en-US" sz="1050" dirty="0"/>
          </a:p>
        </p:txBody>
      </p:sp>
      <p:sp>
        <p:nvSpPr>
          <p:cNvPr id="28" name="Text 2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9" name="Text 23"/>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DATASET OVERVIEW</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The UCI Heart Disease Dataset</a:t>
            </a:r>
            <a:endParaRPr lang="en-US" sz="3200" dirty="0"/>
          </a:p>
        </p:txBody>
      </p:sp>
      <p:sp>
        <p:nvSpPr>
          <p:cNvPr id="4" name="Text 2"/>
          <p:cNvSpPr/>
          <p:nvPr/>
        </p:nvSpPr>
        <p:spPr>
          <a:xfrm>
            <a:off x="548640" y="1600200"/>
            <a:ext cx="5029200" cy="640080"/>
          </a:xfrm>
          <a:prstGeom prst="rect">
            <a:avLst/>
          </a:prstGeom>
          <a:noFill/>
          <a:ln/>
        </p:spPr>
        <p:txBody>
          <a:bodyPr wrap="square" lIns="0" tIns="0" rIns="0" bIns="0"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A widely used, well-documented clinical dataset combining demographic and diagnostic attributes for cardiovascular research.</a:t>
            </a:r>
            <a:endParaRPr lang="en-US" sz="1200" dirty="0"/>
          </a:p>
        </p:txBody>
      </p:sp>
      <p:sp>
        <p:nvSpPr>
          <p:cNvPr id="5" name="Shape 3"/>
          <p:cNvSpPr/>
          <p:nvPr/>
        </p:nvSpPr>
        <p:spPr>
          <a:xfrm>
            <a:off x="548640" y="2377440"/>
            <a:ext cx="1600200" cy="1234440"/>
          </a:xfrm>
          <a:prstGeom prst="roundRect">
            <a:avLst>
              <a:gd name="adj" fmla="val 5185"/>
            </a:avLst>
          </a:prstGeom>
          <a:solidFill>
            <a:srgbClr val="EEF4F7"/>
          </a:solidFill>
          <a:ln/>
        </p:spPr>
      </p:sp>
      <p:sp>
        <p:nvSpPr>
          <p:cNvPr id="6" name="Text 4"/>
          <p:cNvSpPr/>
          <p:nvPr/>
        </p:nvSpPr>
        <p:spPr>
          <a:xfrm>
            <a:off x="548640" y="2487168"/>
            <a:ext cx="1600200" cy="548640"/>
          </a:xfrm>
          <a:prstGeom prst="rect">
            <a:avLst/>
          </a:prstGeom>
          <a:noFill/>
          <a:ln/>
        </p:spPr>
        <p:txBody>
          <a:bodyPr wrap="square" lIns="0" tIns="0" rIns="0" bIns="0" rtlCol="0" anchor="ctr"/>
          <a:lstStyle/>
          <a:p>
            <a:pPr marL="0" indent="0" algn="ctr">
              <a:buNone/>
            </a:pPr>
            <a:r>
              <a:rPr lang="en-US" sz="2600" b="1" dirty="0">
                <a:solidFill>
                  <a:srgbClr val="0E7C86"/>
                </a:solidFill>
                <a:latin typeface="Cambria" pitchFamily="34" charset="0"/>
                <a:ea typeface="Cambria" pitchFamily="34" charset="-122"/>
                <a:cs typeface="Cambria" pitchFamily="34" charset="-120"/>
              </a:rPr>
              <a:t>~303</a:t>
            </a:r>
            <a:endParaRPr lang="en-US" sz="2600" dirty="0"/>
          </a:p>
        </p:txBody>
      </p:sp>
      <p:sp>
        <p:nvSpPr>
          <p:cNvPr id="7" name="Text 5"/>
          <p:cNvSpPr/>
          <p:nvPr/>
        </p:nvSpPr>
        <p:spPr>
          <a:xfrm>
            <a:off x="658368" y="3063240"/>
            <a:ext cx="1380744" cy="502920"/>
          </a:xfrm>
          <a:prstGeom prst="rect">
            <a:avLst/>
          </a:prstGeom>
          <a:noFill/>
          <a:ln/>
        </p:spPr>
        <p:txBody>
          <a:bodyPr wrap="square" lIns="0" tIns="0" rIns="0" bIns="0" rtlCol="0" anchor="ctr"/>
          <a:lstStyle/>
          <a:p>
            <a:pPr marL="0" indent="0" algn="ctr">
              <a:lnSpc>
                <a:spcPct val="105000"/>
              </a:lnSpc>
              <a:buNone/>
            </a:pPr>
            <a:r>
              <a:rPr lang="en-US" sz="900" dirty="0">
                <a:solidFill>
                  <a:srgbClr val="0B1F3A"/>
                </a:solidFill>
                <a:latin typeface="Calibri" pitchFamily="34" charset="0"/>
                <a:ea typeface="Calibri" pitchFamily="34" charset="-122"/>
                <a:cs typeface="Calibri" pitchFamily="34" charset="-120"/>
              </a:rPr>
              <a:t>Patient Records</a:t>
            </a:r>
            <a:endParaRPr lang="en-US" sz="900" dirty="0"/>
          </a:p>
        </p:txBody>
      </p:sp>
      <p:sp>
        <p:nvSpPr>
          <p:cNvPr id="8" name="Shape 6"/>
          <p:cNvSpPr/>
          <p:nvPr/>
        </p:nvSpPr>
        <p:spPr>
          <a:xfrm>
            <a:off x="2286000" y="2377440"/>
            <a:ext cx="1600200" cy="1234440"/>
          </a:xfrm>
          <a:prstGeom prst="roundRect">
            <a:avLst>
              <a:gd name="adj" fmla="val 5185"/>
            </a:avLst>
          </a:prstGeom>
          <a:solidFill>
            <a:srgbClr val="EEF4F7"/>
          </a:solidFill>
          <a:ln/>
        </p:spPr>
      </p:sp>
      <p:sp>
        <p:nvSpPr>
          <p:cNvPr id="9" name="Text 7"/>
          <p:cNvSpPr/>
          <p:nvPr/>
        </p:nvSpPr>
        <p:spPr>
          <a:xfrm>
            <a:off x="2286000" y="2487168"/>
            <a:ext cx="1600200" cy="548640"/>
          </a:xfrm>
          <a:prstGeom prst="rect">
            <a:avLst/>
          </a:prstGeom>
          <a:noFill/>
          <a:ln/>
        </p:spPr>
        <p:txBody>
          <a:bodyPr wrap="square" lIns="0" tIns="0" rIns="0" bIns="0" rtlCol="0" anchor="ctr"/>
          <a:lstStyle/>
          <a:p>
            <a:pPr marL="0" indent="0" algn="ctr">
              <a:buNone/>
            </a:pPr>
            <a:r>
              <a:rPr lang="en-US" sz="2600" b="1" dirty="0">
                <a:solidFill>
                  <a:srgbClr val="0E7C86"/>
                </a:solidFill>
                <a:latin typeface="Cambria" pitchFamily="34" charset="0"/>
                <a:ea typeface="Cambria" pitchFamily="34" charset="-122"/>
                <a:cs typeface="Cambria" pitchFamily="34" charset="-120"/>
              </a:rPr>
              <a:t>13</a:t>
            </a:r>
            <a:endParaRPr lang="en-US" sz="2600" dirty="0"/>
          </a:p>
        </p:txBody>
      </p:sp>
      <p:sp>
        <p:nvSpPr>
          <p:cNvPr id="10" name="Text 8"/>
          <p:cNvSpPr/>
          <p:nvPr/>
        </p:nvSpPr>
        <p:spPr>
          <a:xfrm>
            <a:off x="2395728" y="3063240"/>
            <a:ext cx="1380744" cy="502920"/>
          </a:xfrm>
          <a:prstGeom prst="rect">
            <a:avLst/>
          </a:prstGeom>
          <a:noFill/>
          <a:ln/>
        </p:spPr>
        <p:txBody>
          <a:bodyPr wrap="square" lIns="0" tIns="0" rIns="0" bIns="0" rtlCol="0" anchor="ctr"/>
          <a:lstStyle/>
          <a:p>
            <a:pPr marL="0" indent="0" algn="ctr">
              <a:lnSpc>
                <a:spcPct val="105000"/>
              </a:lnSpc>
              <a:buNone/>
            </a:pPr>
            <a:r>
              <a:rPr lang="en-US" sz="900" dirty="0">
                <a:solidFill>
                  <a:srgbClr val="0B1F3A"/>
                </a:solidFill>
                <a:latin typeface="Calibri" pitchFamily="34" charset="0"/>
                <a:ea typeface="Calibri" pitchFamily="34" charset="-122"/>
                <a:cs typeface="Calibri" pitchFamily="34" charset="-120"/>
              </a:rPr>
              <a:t>Clinical &amp; Demographic Features</a:t>
            </a:r>
            <a:endParaRPr lang="en-US" sz="900" dirty="0"/>
          </a:p>
        </p:txBody>
      </p:sp>
      <p:sp>
        <p:nvSpPr>
          <p:cNvPr id="11" name="Shape 9"/>
          <p:cNvSpPr/>
          <p:nvPr/>
        </p:nvSpPr>
        <p:spPr>
          <a:xfrm>
            <a:off x="4023360" y="2377440"/>
            <a:ext cx="1600200" cy="1234440"/>
          </a:xfrm>
          <a:prstGeom prst="roundRect">
            <a:avLst>
              <a:gd name="adj" fmla="val 5185"/>
            </a:avLst>
          </a:prstGeom>
          <a:solidFill>
            <a:srgbClr val="EEF4F7"/>
          </a:solidFill>
          <a:ln/>
        </p:spPr>
      </p:sp>
      <p:sp>
        <p:nvSpPr>
          <p:cNvPr id="12" name="Text 10"/>
          <p:cNvSpPr/>
          <p:nvPr/>
        </p:nvSpPr>
        <p:spPr>
          <a:xfrm>
            <a:off x="4023360" y="2487168"/>
            <a:ext cx="1600200" cy="548640"/>
          </a:xfrm>
          <a:prstGeom prst="rect">
            <a:avLst/>
          </a:prstGeom>
          <a:noFill/>
          <a:ln/>
        </p:spPr>
        <p:txBody>
          <a:bodyPr wrap="square" lIns="0" tIns="0" rIns="0" bIns="0" rtlCol="0" anchor="ctr"/>
          <a:lstStyle/>
          <a:p>
            <a:pPr marL="0" indent="0" algn="ctr">
              <a:buNone/>
            </a:pPr>
            <a:r>
              <a:rPr lang="en-US" sz="2600" b="1" dirty="0">
                <a:solidFill>
                  <a:srgbClr val="0E7C86"/>
                </a:solidFill>
                <a:latin typeface="Cambria" pitchFamily="34" charset="0"/>
                <a:ea typeface="Cambria" pitchFamily="34" charset="-122"/>
                <a:cs typeface="Cambria" pitchFamily="34" charset="-120"/>
              </a:rPr>
              <a:t>1</a:t>
            </a:r>
            <a:endParaRPr lang="en-US" sz="2600" dirty="0"/>
          </a:p>
        </p:txBody>
      </p:sp>
      <p:sp>
        <p:nvSpPr>
          <p:cNvPr id="13" name="Text 11"/>
          <p:cNvSpPr/>
          <p:nvPr/>
        </p:nvSpPr>
        <p:spPr>
          <a:xfrm>
            <a:off x="4133088" y="3063240"/>
            <a:ext cx="1380744" cy="502920"/>
          </a:xfrm>
          <a:prstGeom prst="rect">
            <a:avLst/>
          </a:prstGeom>
          <a:noFill/>
          <a:ln/>
        </p:spPr>
        <p:txBody>
          <a:bodyPr wrap="square" lIns="0" tIns="0" rIns="0" bIns="0" rtlCol="0" anchor="ctr"/>
          <a:lstStyle/>
          <a:p>
            <a:pPr marL="0" indent="0" algn="ctr">
              <a:lnSpc>
                <a:spcPct val="105000"/>
              </a:lnSpc>
              <a:buNone/>
            </a:pPr>
            <a:r>
              <a:rPr lang="en-US" sz="900" dirty="0">
                <a:solidFill>
                  <a:srgbClr val="0B1F3A"/>
                </a:solidFill>
                <a:latin typeface="Calibri" pitchFamily="34" charset="0"/>
                <a:ea typeface="Calibri" pitchFamily="34" charset="-122"/>
                <a:cs typeface="Calibri" pitchFamily="34" charset="-120"/>
              </a:rPr>
              <a:t>Target Variable (Diagnosis)</a:t>
            </a:r>
            <a:endParaRPr lang="en-US" sz="900" dirty="0"/>
          </a:p>
        </p:txBody>
      </p:sp>
      <p:pic>
        <p:nvPicPr>
          <p:cNvPr id="14" name="Image 0" descr="preencoded.png"/>
          <p:cNvPicPr>
            <a:picLocks noChangeAspect="1"/>
          </p:cNvPicPr>
          <p:nvPr/>
        </p:nvPicPr>
        <p:blipFill>
          <a:blip r:embed="rId3"/>
          <a:stretch>
            <a:fillRect/>
          </a:stretch>
        </p:blipFill>
        <p:spPr>
          <a:xfrm>
            <a:off x="548640" y="3886200"/>
            <a:ext cx="411480" cy="411480"/>
          </a:xfrm>
          <a:prstGeom prst="rect">
            <a:avLst/>
          </a:prstGeom>
        </p:spPr>
      </p:pic>
      <p:sp>
        <p:nvSpPr>
          <p:cNvPr id="15" name="Text 12"/>
          <p:cNvSpPr/>
          <p:nvPr/>
        </p:nvSpPr>
        <p:spPr>
          <a:xfrm>
            <a:off x="1097280" y="3886200"/>
            <a:ext cx="4480560" cy="640080"/>
          </a:xfrm>
          <a:prstGeom prst="rect">
            <a:avLst/>
          </a:prstGeom>
          <a:noFill/>
          <a:ln/>
        </p:spPr>
        <p:txBody>
          <a:bodyPr wrap="square" lIns="0" tIns="0" rIns="0" bIns="0" rtlCol="0" anchor="ctr"/>
          <a:lstStyle/>
          <a:p>
            <a:pPr marL="0" indent="0">
              <a:buNone/>
            </a:pPr>
            <a:r>
              <a:rPr lang="en-US" sz="1000" i="1" dirty="0">
                <a:solidFill>
                  <a:srgbClr val="5A6B7B"/>
                </a:solidFill>
                <a:latin typeface="Calibri" pitchFamily="34" charset="0"/>
                <a:ea typeface="Calibri" pitchFamily="34" charset="-122"/>
                <a:cs typeface="Calibri" pitchFamily="34" charset="-120"/>
              </a:rPr>
              <a:t>Sourced from the UCI Machine Learning Repository — a trusted standard for cardiovascular ML research.</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532120" y="1600200"/>
          <a:ext cx="6126480" cy="4416552"/>
        </p:xfrm>
        <a:graphic>
          <a:graphicData uri="http://schemas.openxmlformats.org/drawingml/2006/table">
            <a:tbl>
              <a:tblPr/>
              <a:tblGrid>
                <a:gridCol w="23774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1546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solidFill>
                      <a:srgbClr val="0B1F3A"/>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Description</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Patient age in years</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1"/>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Sex</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Biological sex of patient</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2"/>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Chest Pain Type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Category of chest pain experienced</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3"/>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Resting Blood Pressure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Blood pressure at rest (mm Hg)</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4"/>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Cholesterol</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Serum cholesterol level (mg/dl)</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5"/>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Fasting Blood Sugar</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Blood sugar after fasting</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6"/>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Resting ECG</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Electrocardiographic results</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7"/>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Max Heart Rate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Maximum heart rate achieved</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8"/>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Exercise-Induced Angina</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Angina triggered by exercise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09"/>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ST Depression</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ST depression induced by exercise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10"/>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Major Vessels (0–3)</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Vessels colored by fluoroscopy</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11"/>
                  </a:ext>
                </a:extLst>
              </a:tr>
              <a:tr h="315468">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Thalassemia</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dirty="0">
                          <a:solidFill>
                            <a:srgbClr val="5A6B7B"/>
                          </a:solidFill>
                          <a:latin typeface="Calibri" pitchFamily="34" charset="0"/>
                          <a:ea typeface="Calibri" pitchFamily="34" charset="-122"/>
                          <a:cs typeface="Calibri" pitchFamily="34" charset="-120"/>
                        </a:rPr>
                        <a:t>Blood disorder indicator</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12"/>
                  </a:ext>
                </a:extLst>
              </a:tr>
              <a:tr h="315468">
                <a:tc>
                  <a:txBody>
                    <a:bodyPr/>
                    <a:lstStyle/>
                    <a:p>
                      <a:pPr marL="0" indent="0">
                        <a:buNone/>
                      </a:pPr>
                      <a:r>
                        <a:rPr lang="en-US" sz="950" b="1" dirty="0">
                          <a:solidFill>
                            <a:srgbClr val="0B1F3A"/>
                          </a:solidFill>
                          <a:latin typeface="Calibri" pitchFamily="34" charset="0"/>
                          <a:ea typeface="Calibri" pitchFamily="34" charset="-122"/>
                          <a:cs typeface="Calibri" pitchFamily="34" charset="-120"/>
                        </a:rPr>
                        <a:t>Target</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tc>
                  <a:txBody>
                    <a:bodyPr/>
                    <a:lstStyle/>
                    <a:p>
                      <a:pPr marL="0" indent="0">
                        <a:buNone/>
                      </a:pPr>
                      <a:r>
                        <a:rPr lang="en-US" sz="950" b="1" dirty="0">
                          <a:solidFill>
                            <a:srgbClr val="0B1F3A"/>
                          </a:solidFill>
                          <a:latin typeface="Calibri" pitchFamily="34" charset="0"/>
                          <a:ea typeface="Calibri" pitchFamily="34" charset="-122"/>
                          <a:cs typeface="Calibri" pitchFamily="34" charset="-120"/>
                        </a:rPr>
                        <a:t>Presence of heart disease</a:t>
                      </a:r>
                      <a:endParaRPr lang="en-US" sz="950" dirty="0">
                        <a:latin typeface="Calibri" charset="0"/>
                        <a:ea typeface="Calibri" charset="0"/>
                        <a:cs typeface="Calibri" charset="0"/>
                      </a:endParaRPr>
                    </a:p>
                  </a:txBody>
                  <a:tcPr anchor="ctr">
                    <a:lnL w="9525" cap="flat" cmpd="sng" algn="ctr">
                      <a:solidFill>
                        <a:srgbClr val="E2E8EE"/>
                      </a:solidFill>
                      <a:prstDash val="solid"/>
                      <a:round/>
                      <a:headEnd type="none" w="med" len="med"/>
                      <a:tailEnd type="none" w="med" len="med"/>
                    </a:lnL>
                    <a:lnR w="9525" cap="flat" cmpd="sng" algn="ctr">
                      <a:solidFill>
                        <a:srgbClr val="E2E8EE"/>
                      </a:solidFill>
                      <a:prstDash val="solid"/>
                      <a:round/>
                      <a:headEnd type="none" w="med" len="med"/>
                      <a:tailEnd type="none" w="med" len="med"/>
                    </a:lnR>
                    <a:lnT w="9525" cap="flat" cmpd="sng" algn="ctr">
                      <a:solidFill>
                        <a:srgbClr val="E2E8EE"/>
                      </a:solidFill>
                      <a:prstDash val="solid"/>
                      <a:round/>
                      <a:headEnd type="none" w="med" len="med"/>
                      <a:tailEnd type="none" w="med" len="med"/>
                    </a:lnT>
                    <a:lnB w="9525" cap="flat" cmpd="sng" algn="ctr">
                      <a:solidFill>
                        <a:srgbClr val="E2E8EE"/>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7" name="Text 1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18" name="Text 1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DATA COLLECTION &amp; UNDERSTANDING</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Selecting and Understanding the Data</a:t>
            </a:r>
            <a:endParaRPr lang="en-US" sz="3200" dirty="0"/>
          </a:p>
        </p:txBody>
      </p:sp>
      <p:sp>
        <p:nvSpPr>
          <p:cNvPr id="4" name="Shape 2"/>
          <p:cNvSpPr/>
          <p:nvPr/>
        </p:nvSpPr>
        <p:spPr>
          <a:xfrm>
            <a:off x="548640" y="1645920"/>
            <a:ext cx="457200" cy="457200"/>
          </a:xfrm>
          <a:prstGeom prst="ellipse">
            <a:avLst/>
          </a:prstGeom>
          <a:solidFill>
            <a:srgbClr val="FFFFFF"/>
          </a:solidFill>
          <a:ln/>
        </p:spPr>
      </p:sp>
      <p:pic>
        <p:nvPicPr>
          <p:cNvPr id="5" name="Image 0" descr="preencoded.png"/>
          <p:cNvPicPr>
            <a:picLocks noChangeAspect="1"/>
          </p:cNvPicPr>
          <p:nvPr/>
        </p:nvPicPr>
        <p:blipFill>
          <a:blip r:embed="rId3"/>
          <a:stretch>
            <a:fillRect/>
          </a:stretch>
        </p:blipFill>
        <p:spPr>
          <a:xfrm>
            <a:off x="651510" y="1748790"/>
            <a:ext cx="251460" cy="251460"/>
          </a:xfrm>
          <a:prstGeom prst="rect">
            <a:avLst/>
          </a:prstGeom>
        </p:spPr>
      </p:pic>
      <p:sp>
        <p:nvSpPr>
          <p:cNvPr id="6" name="Text 3"/>
          <p:cNvSpPr/>
          <p:nvPr/>
        </p:nvSpPr>
        <p:spPr>
          <a:xfrm>
            <a:off x="1170432" y="1609344"/>
            <a:ext cx="5394960" cy="292608"/>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Why the UCI Dataset Was Selected</a:t>
            </a:r>
            <a:endParaRPr lang="en-US" sz="1300" dirty="0"/>
          </a:p>
        </p:txBody>
      </p:sp>
      <p:sp>
        <p:nvSpPr>
          <p:cNvPr id="7" name="Text 4"/>
          <p:cNvSpPr/>
          <p:nvPr/>
        </p:nvSpPr>
        <p:spPr>
          <a:xfrm>
            <a:off x="1170432" y="1901952"/>
            <a:ext cx="5394960" cy="640080"/>
          </a:xfrm>
          <a:prstGeom prst="rect">
            <a:avLst/>
          </a:prstGeom>
          <a:noFill/>
          <a:ln/>
        </p:spPr>
        <p:txBody>
          <a:bodyPr wrap="square" lIns="0" tIns="0" rIns="0" bIns="0" rtlCol="0" anchor="ctr"/>
          <a:lstStyle/>
          <a:p>
            <a:pPr marL="0" indent="0">
              <a:lnSpc>
                <a:spcPct val="112000"/>
              </a:lnSpc>
              <a:buNone/>
            </a:pPr>
            <a:r>
              <a:rPr lang="en-US" sz="1000" dirty="0">
                <a:solidFill>
                  <a:srgbClr val="5A6B7B"/>
                </a:solidFill>
                <a:latin typeface="Calibri" pitchFamily="34" charset="0"/>
                <a:ea typeface="Calibri" pitchFamily="34" charset="-122"/>
                <a:cs typeface="Calibri" pitchFamily="34" charset="-120"/>
              </a:rPr>
              <a:t>It is a peer-referenced, clinically grounded dataset frequently used in healthcare analytics and machine learning research, making it reliable for academic and internship work.</a:t>
            </a:r>
            <a:endParaRPr lang="en-US" sz="1000" dirty="0"/>
          </a:p>
        </p:txBody>
      </p:sp>
      <p:sp>
        <p:nvSpPr>
          <p:cNvPr id="8" name="Shape 5"/>
          <p:cNvSpPr/>
          <p:nvPr/>
        </p:nvSpPr>
        <p:spPr>
          <a:xfrm>
            <a:off x="548640" y="2724912"/>
            <a:ext cx="457200" cy="457200"/>
          </a:xfrm>
          <a:prstGeom prst="ellipse">
            <a:avLst/>
          </a:prstGeom>
          <a:solidFill>
            <a:srgbClr val="FFFFFF"/>
          </a:solidFill>
          <a:ln/>
        </p:spPr>
      </p:sp>
      <p:pic>
        <p:nvPicPr>
          <p:cNvPr id="9" name="Image 1" descr="preencoded.png"/>
          <p:cNvPicPr>
            <a:picLocks noChangeAspect="1"/>
          </p:cNvPicPr>
          <p:nvPr/>
        </p:nvPicPr>
        <p:blipFill>
          <a:blip r:embed="rId4"/>
          <a:stretch>
            <a:fillRect/>
          </a:stretch>
        </p:blipFill>
        <p:spPr>
          <a:xfrm>
            <a:off x="651510" y="2827782"/>
            <a:ext cx="251460" cy="251460"/>
          </a:xfrm>
          <a:prstGeom prst="rect">
            <a:avLst/>
          </a:prstGeom>
        </p:spPr>
      </p:pic>
      <p:sp>
        <p:nvSpPr>
          <p:cNvPr id="10" name="Text 6"/>
          <p:cNvSpPr/>
          <p:nvPr/>
        </p:nvSpPr>
        <p:spPr>
          <a:xfrm>
            <a:off x="1170432" y="2688336"/>
            <a:ext cx="5394960" cy="292608"/>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Importance of Metadata</a:t>
            </a:r>
            <a:endParaRPr lang="en-US" sz="1300" dirty="0"/>
          </a:p>
        </p:txBody>
      </p:sp>
      <p:sp>
        <p:nvSpPr>
          <p:cNvPr id="11" name="Text 7"/>
          <p:cNvSpPr/>
          <p:nvPr/>
        </p:nvSpPr>
        <p:spPr>
          <a:xfrm>
            <a:off x="1170432" y="2980944"/>
            <a:ext cx="5394960" cy="640080"/>
          </a:xfrm>
          <a:prstGeom prst="rect">
            <a:avLst/>
          </a:prstGeom>
          <a:noFill/>
          <a:ln/>
        </p:spPr>
        <p:txBody>
          <a:bodyPr wrap="square" lIns="0" tIns="0" rIns="0" bIns="0" rtlCol="0" anchor="ctr"/>
          <a:lstStyle/>
          <a:p>
            <a:pPr marL="0" indent="0">
              <a:lnSpc>
                <a:spcPct val="112000"/>
              </a:lnSpc>
              <a:buNone/>
            </a:pPr>
            <a:r>
              <a:rPr lang="en-US" sz="1000" dirty="0">
                <a:solidFill>
                  <a:srgbClr val="5A6B7B"/>
                </a:solidFill>
                <a:latin typeface="Calibri" pitchFamily="34" charset="0"/>
                <a:ea typeface="Calibri" pitchFamily="34" charset="-122"/>
                <a:cs typeface="Calibri" pitchFamily="34" charset="-120"/>
              </a:rPr>
              <a:t>Understanding what each column represents — units, value ranges, and encoding — is essential before any cleaning or analysis can begin safely.</a:t>
            </a:r>
            <a:endParaRPr lang="en-US" sz="1000" dirty="0"/>
          </a:p>
        </p:txBody>
      </p:sp>
      <p:sp>
        <p:nvSpPr>
          <p:cNvPr id="12" name="Shape 8"/>
          <p:cNvSpPr/>
          <p:nvPr/>
        </p:nvSpPr>
        <p:spPr>
          <a:xfrm>
            <a:off x="548640" y="3803904"/>
            <a:ext cx="457200" cy="457200"/>
          </a:xfrm>
          <a:prstGeom prst="ellipse">
            <a:avLst/>
          </a:prstGeom>
          <a:solidFill>
            <a:srgbClr val="FFFFFF"/>
          </a:solidFill>
          <a:ln/>
        </p:spPr>
      </p:sp>
      <p:pic>
        <p:nvPicPr>
          <p:cNvPr id="13" name="Image 2" descr="preencoded.png"/>
          <p:cNvPicPr>
            <a:picLocks noChangeAspect="1"/>
          </p:cNvPicPr>
          <p:nvPr/>
        </p:nvPicPr>
        <p:blipFill>
          <a:blip r:embed="rId5"/>
          <a:stretch>
            <a:fillRect/>
          </a:stretch>
        </p:blipFill>
        <p:spPr>
          <a:xfrm>
            <a:off x="651510" y="3906774"/>
            <a:ext cx="251460" cy="251460"/>
          </a:xfrm>
          <a:prstGeom prst="rect">
            <a:avLst/>
          </a:prstGeom>
        </p:spPr>
      </p:pic>
      <p:sp>
        <p:nvSpPr>
          <p:cNvPr id="14" name="Text 9"/>
          <p:cNvSpPr/>
          <p:nvPr/>
        </p:nvSpPr>
        <p:spPr>
          <a:xfrm>
            <a:off x="1170432" y="3767328"/>
            <a:ext cx="5394960" cy="292608"/>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Feature Descriptions</a:t>
            </a:r>
            <a:endParaRPr lang="en-US" sz="1300" dirty="0"/>
          </a:p>
        </p:txBody>
      </p:sp>
      <p:sp>
        <p:nvSpPr>
          <p:cNvPr id="15" name="Text 10"/>
          <p:cNvSpPr/>
          <p:nvPr/>
        </p:nvSpPr>
        <p:spPr>
          <a:xfrm>
            <a:off x="1170432" y="4059936"/>
            <a:ext cx="5394960" cy="640080"/>
          </a:xfrm>
          <a:prstGeom prst="rect">
            <a:avLst/>
          </a:prstGeom>
          <a:noFill/>
          <a:ln/>
        </p:spPr>
        <p:txBody>
          <a:bodyPr wrap="square" lIns="0" tIns="0" rIns="0" bIns="0" rtlCol="0" anchor="ctr"/>
          <a:lstStyle/>
          <a:p>
            <a:pPr marL="0" indent="0">
              <a:lnSpc>
                <a:spcPct val="112000"/>
              </a:lnSpc>
              <a:buNone/>
            </a:pPr>
            <a:r>
              <a:rPr lang="en-US" sz="1000" dirty="0">
                <a:solidFill>
                  <a:srgbClr val="5A6B7B"/>
                </a:solidFill>
                <a:latin typeface="Calibri" pitchFamily="34" charset="0"/>
                <a:ea typeface="Calibri" pitchFamily="34" charset="-122"/>
                <a:cs typeface="Calibri" pitchFamily="34" charset="-120"/>
              </a:rPr>
              <a:t>Each clinical attribute was reviewed individually to understand its medical meaning and its likely relevance to cardiovascular risk.</a:t>
            </a:r>
            <a:endParaRPr lang="en-US" sz="1000" dirty="0"/>
          </a:p>
        </p:txBody>
      </p:sp>
      <p:sp>
        <p:nvSpPr>
          <p:cNvPr id="16" name="Shape 11"/>
          <p:cNvSpPr/>
          <p:nvPr/>
        </p:nvSpPr>
        <p:spPr>
          <a:xfrm>
            <a:off x="548640" y="4882896"/>
            <a:ext cx="457200" cy="457200"/>
          </a:xfrm>
          <a:prstGeom prst="ellipse">
            <a:avLst/>
          </a:prstGeom>
          <a:solidFill>
            <a:srgbClr val="FFFFFF"/>
          </a:solidFill>
          <a:ln/>
        </p:spPr>
      </p:sp>
      <p:pic>
        <p:nvPicPr>
          <p:cNvPr id="17" name="Image 3" descr="preencoded.png"/>
          <p:cNvPicPr>
            <a:picLocks noChangeAspect="1"/>
          </p:cNvPicPr>
          <p:nvPr/>
        </p:nvPicPr>
        <p:blipFill>
          <a:blip r:embed="rId6"/>
          <a:stretch>
            <a:fillRect/>
          </a:stretch>
        </p:blipFill>
        <p:spPr>
          <a:xfrm>
            <a:off x="651510" y="4985766"/>
            <a:ext cx="251460" cy="251460"/>
          </a:xfrm>
          <a:prstGeom prst="rect">
            <a:avLst/>
          </a:prstGeom>
        </p:spPr>
      </p:pic>
      <p:sp>
        <p:nvSpPr>
          <p:cNvPr id="18" name="Text 12"/>
          <p:cNvSpPr/>
          <p:nvPr/>
        </p:nvSpPr>
        <p:spPr>
          <a:xfrm>
            <a:off x="1170432" y="4846320"/>
            <a:ext cx="5394960" cy="292608"/>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Real-World Healthcare Relevance</a:t>
            </a:r>
            <a:endParaRPr lang="en-US" sz="1300" dirty="0"/>
          </a:p>
        </p:txBody>
      </p:sp>
      <p:sp>
        <p:nvSpPr>
          <p:cNvPr id="19" name="Text 13"/>
          <p:cNvSpPr/>
          <p:nvPr/>
        </p:nvSpPr>
        <p:spPr>
          <a:xfrm>
            <a:off x="1170432" y="5138928"/>
            <a:ext cx="5394960" cy="640080"/>
          </a:xfrm>
          <a:prstGeom prst="rect">
            <a:avLst/>
          </a:prstGeom>
          <a:noFill/>
          <a:ln/>
        </p:spPr>
        <p:txBody>
          <a:bodyPr wrap="square" lIns="0" tIns="0" rIns="0" bIns="0" rtlCol="0" anchor="ctr"/>
          <a:lstStyle/>
          <a:p>
            <a:pPr marL="0" indent="0">
              <a:lnSpc>
                <a:spcPct val="112000"/>
              </a:lnSpc>
              <a:buNone/>
            </a:pPr>
            <a:r>
              <a:rPr lang="en-US" sz="1000" dirty="0">
                <a:solidFill>
                  <a:srgbClr val="5A6B7B"/>
                </a:solidFill>
                <a:latin typeface="Calibri" pitchFamily="34" charset="0"/>
                <a:ea typeface="Calibri" pitchFamily="34" charset="-122"/>
                <a:cs typeface="Calibri" pitchFamily="34" charset="-120"/>
              </a:rPr>
              <a:t>These are the same categories of measurements clinicians routinely collect, which grounds the analysis in practical, real-world relevance.</a:t>
            </a:r>
            <a:endParaRPr lang="en-US" sz="1000" dirty="0"/>
          </a:p>
        </p:txBody>
      </p:sp>
      <p:sp>
        <p:nvSpPr>
          <p:cNvPr id="20" name="Shape 14"/>
          <p:cNvSpPr/>
          <p:nvPr/>
        </p:nvSpPr>
        <p:spPr>
          <a:xfrm>
            <a:off x="6903720" y="1691640"/>
            <a:ext cx="4754880" cy="1207008"/>
          </a:xfrm>
          <a:prstGeom prst="roundRect">
            <a:avLst>
              <a:gd name="adj" fmla="val 6061"/>
            </a:avLst>
          </a:prstGeom>
          <a:solidFill>
            <a:srgbClr val="0B1F3A"/>
          </a:solidFill>
          <a:ln/>
          <a:effectLst>
            <a:outerShdw blurRad="101600" dist="38100" dir="2700000" algn="bl" rotWithShape="0">
              <a:srgbClr val="0B1F3A">
                <a:alpha val="12000"/>
              </a:srgbClr>
            </a:outerShdw>
          </a:effectLst>
        </p:spPr>
      </p:sp>
      <p:sp>
        <p:nvSpPr>
          <p:cNvPr id="21" name="Shape 15"/>
          <p:cNvSpPr/>
          <p:nvPr/>
        </p:nvSpPr>
        <p:spPr>
          <a:xfrm>
            <a:off x="7159752" y="2029968"/>
            <a:ext cx="530352" cy="530352"/>
          </a:xfrm>
          <a:prstGeom prst="ellipse">
            <a:avLst/>
          </a:prstGeom>
          <a:solidFill>
            <a:srgbClr val="0E7C86"/>
          </a:solidFill>
          <a:ln/>
        </p:spPr>
      </p:sp>
      <p:pic>
        <p:nvPicPr>
          <p:cNvPr id="22" name="Image 4" descr="preencoded.png"/>
          <p:cNvPicPr>
            <a:picLocks noChangeAspect="1"/>
          </p:cNvPicPr>
          <p:nvPr/>
        </p:nvPicPr>
        <p:blipFill>
          <a:blip r:embed="rId7"/>
          <a:stretch>
            <a:fillRect/>
          </a:stretch>
        </p:blipFill>
        <p:spPr>
          <a:xfrm>
            <a:off x="7292340" y="2162556"/>
            <a:ext cx="265176" cy="265176"/>
          </a:xfrm>
          <a:prstGeom prst="rect">
            <a:avLst/>
          </a:prstGeom>
        </p:spPr>
      </p:pic>
      <p:sp>
        <p:nvSpPr>
          <p:cNvPr id="23" name="Text 16"/>
          <p:cNvSpPr/>
          <p:nvPr/>
        </p:nvSpPr>
        <p:spPr>
          <a:xfrm>
            <a:off x="7863840" y="1892808"/>
            <a:ext cx="356616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Data Source</a:t>
            </a:r>
            <a:endParaRPr lang="en-US" sz="1450" dirty="0"/>
          </a:p>
        </p:txBody>
      </p:sp>
      <p:sp>
        <p:nvSpPr>
          <p:cNvPr id="24" name="Text 17"/>
          <p:cNvSpPr/>
          <p:nvPr/>
        </p:nvSpPr>
        <p:spPr>
          <a:xfrm>
            <a:off x="7863840" y="2276856"/>
            <a:ext cx="3566160" cy="365760"/>
          </a:xfrm>
          <a:prstGeom prst="rect">
            <a:avLst/>
          </a:prstGeom>
          <a:noFill/>
          <a:ln/>
        </p:spPr>
        <p:txBody>
          <a:bodyPr wrap="square" lIns="0" tIns="0" rIns="0" bIns="0" rtlCol="0" anchor="ctr"/>
          <a:lstStyle/>
          <a:p>
            <a:pPr marL="0" indent="0">
              <a:buNone/>
            </a:pPr>
            <a:r>
              <a:rPr lang="en-US" sz="1050" i="1" dirty="0">
                <a:solidFill>
                  <a:srgbClr val="9FB0BE"/>
                </a:solidFill>
                <a:latin typeface="Calibri" pitchFamily="34" charset="0"/>
                <a:ea typeface="Calibri" pitchFamily="34" charset="-122"/>
                <a:cs typeface="Calibri" pitchFamily="34" charset="-120"/>
              </a:rPr>
              <a:t>UCI Repository</a:t>
            </a:r>
            <a:endParaRPr lang="en-US" sz="1050" dirty="0"/>
          </a:p>
        </p:txBody>
      </p:sp>
      <p:pic>
        <p:nvPicPr>
          <p:cNvPr id="25" name="Image 5" descr="preencoded.png"/>
          <p:cNvPicPr>
            <a:picLocks noChangeAspect="1"/>
          </p:cNvPicPr>
          <p:nvPr/>
        </p:nvPicPr>
        <p:blipFill>
          <a:blip r:embed="rId8"/>
          <a:stretch>
            <a:fillRect/>
          </a:stretch>
        </p:blipFill>
        <p:spPr>
          <a:xfrm rot="5400000">
            <a:off x="9153144" y="2935224"/>
            <a:ext cx="256032" cy="256032"/>
          </a:xfrm>
          <a:prstGeom prst="rect">
            <a:avLst/>
          </a:prstGeom>
        </p:spPr>
      </p:pic>
      <p:sp>
        <p:nvSpPr>
          <p:cNvPr id="26" name="Shape 18"/>
          <p:cNvSpPr/>
          <p:nvPr/>
        </p:nvSpPr>
        <p:spPr>
          <a:xfrm>
            <a:off x="6903720" y="3264408"/>
            <a:ext cx="4754880" cy="1207008"/>
          </a:xfrm>
          <a:prstGeom prst="roundRect">
            <a:avLst>
              <a:gd name="adj" fmla="val 6061"/>
            </a:avLst>
          </a:prstGeom>
          <a:solidFill>
            <a:srgbClr val="0E7C86"/>
          </a:solidFill>
          <a:ln/>
          <a:effectLst>
            <a:outerShdw blurRad="101600" dist="38100" dir="2700000" algn="bl" rotWithShape="0">
              <a:srgbClr val="0B1F3A">
                <a:alpha val="12000"/>
              </a:srgbClr>
            </a:outerShdw>
          </a:effectLst>
        </p:spPr>
      </p:sp>
      <p:sp>
        <p:nvSpPr>
          <p:cNvPr id="27" name="Shape 19"/>
          <p:cNvSpPr/>
          <p:nvPr/>
        </p:nvSpPr>
        <p:spPr>
          <a:xfrm>
            <a:off x="7159752" y="3602736"/>
            <a:ext cx="530352" cy="530352"/>
          </a:xfrm>
          <a:prstGeom prst="ellipse">
            <a:avLst/>
          </a:prstGeom>
          <a:solidFill>
            <a:srgbClr val="0B1F3A"/>
          </a:solidFill>
          <a:ln/>
        </p:spPr>
      </p:sp>
      <p:pic>
        <p:nvPicPr>
          <p:cNvPr id="28" name="Image 6" descr="preencoded.png"/>
          <p:cNvPicPr>
            <a:picLocks noChangeAspect="1"/>
          </p:cNvPicPr>
          <p:nvPr/>
        </p:nvPicPr>
        <p:blipFill>
          <a:blip r:embed="rId9"/>
          <a:stretch>
            <a:fillRect/>
          </a:stretch>
        </p:blipFill>
        <p:spPr>
          <a:xfrm>
            <a:off x="7292340" y="3735324"/>
            <a:ext cx="265176" cy="265176"/>
          </a:xfrm>
          <a:prstGeom prst="rect">
            <a:avLst/>
          </a:prstGeom>
        </p:spPr>
      </p:pic>
      <p:sp>
        <p:nvSpPr>
          <p:cNvPr id="29" name="Text 20"/>
          <p:cNvSpPr/>
          <p:nvPr/>
        </p:nvSpPr>
        <p:spPr>
          <a:xfrm>
            <a:off x="7863840" y="3465576"/>
            <a:ext cx="356616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Data Inspection</a:t>
            </a:r>
            <a:endParaRPr lang="en-US" sz="1450" dirty="0"/>
          </a:p>
        </p:txBody>
      </p:sp>
      <p:sp>
        <p:nvSpPr>
          <p:cNvPr id="30" name="Text 21"/>
          <p:cNvSpPr/>
          <p:nvPr/>
        </p:nvSpPr>
        <p:spPr>
          <a:xfrm>
            <a:off x="7863840" y="3849624"/>
            <a:ext cx="3566160" cy="365760"/>
          </a:xfrm>
          <a:prstGeom prst="rect">
            <a:avLst/>
          </a:prstGeom>
          <a:noFill/>
          <a:ln/>
        </p:spPr>
        <p:txBody>
          <a:bodyPr wrap="square" lIns="0" tIns="0" rIns="0" bIns="0" rtlCol="0" anchor="ctr"/>
          <a:lstStyle/>
          <a:p>
            <a:pPr marL="0" indent="0">
              <a:buNone/>
            </a:pPr>
            <a:r>
              <a:rPr lang="en-US" sz="1050" i="1" dirty="0">
                <a:solidFill>
                  <a:srgbClr val="9FB0BE"/>
                </a:solidFill>
                <a:latin typeface="Calibri" pitchFamily="34" charset="0"/>
                <a:ea typeface="Calibri" pitchFamily="34" charset="-122"/>
                <a:cs typeface="Calibri" pitchFamily="34" charset="-120"/>
              </a:rPr>
              <a:t>Structure &amp; types</a:t>
            </a:r>
            <a:endParaRPr lang="en-US" sz="1050" dirty="0"/>
          </a:p>
        </p:txBody>
      </p:sp>
      <p:pic>
        <p:nvPicPr>
          <p:cNvPr id="31" name="Image 7" descr="preencoded.png"/>
          <p:cNvPicPr>
            <a:picLocks noChangeAspect="1"/>
          </p:cNvPicPr>
          <p:nvPr/>
        </p:nvPicPr>
        <p:blipFill>
          <a:blip r:embed="rId8"/>
          <a:stretch>
            <a:fillRect/>
          </a:stretch>
        </p:blipFill>
        <p:spPr>
          <a:xfrm rot="5400000">
            <a:off x="9153144" y="4507992"/>
            <a:ext cx="256032" cy="256032"/>
          </a:xfrm>
          <a:prstGeom prst="rect">
            <a:avLst/>
          </a:prstGeom>
        </p:spPr>
      </p:pic>
      <p:sp>
        <p:nvSpPr>
          <p:cNvPr id="32" name="Shape 22"/>
          <p:cNvSpPr/>
          <p:nvPr/>
        </p:nvSpPr>
        <p:spPr>
          <a:xfrm>
            <a:off x="6903720" y="4837176"/>
            <a:ext cx="4754880" cy="1207008"/>
          </a:xfrm>
          <a:prstGeom prst="roundRect">
            <a:avLst>
              <a:gd name="adj" fmla="val 6061"/>
            </a:avLst>
          </a:prstGeom>
          <a:solidFill>
            <a:srgbClr val="0B1F3A"/>
          </a:solidFill>
          <a:ln/>
          <a:effectLst>
            <a:outerShdw blurRad="101600" dist="38100" dir="2700000" algn="bl" rotWithShape="0">
              <a:srgbClr val="0B1F3A">
                <a:alpha val="12000"/>
              </a:srgbClr>
            </a:outerShdw>
          </a:effectLst>
        </p:spPr>
      </p:sp>
      <p:sp>
        <p:nvSpPr>
          <p:cNvPr id="33" name="Shape 23"/>
          <p:cNvSpPr/>
          <p:nvPr/>
        </p:nvSpPr>
        <p:spPr>
          <a:xfrm>
            <a:off x="7159752" y="5175504"/>
            <a:ext cx="530352" cy="530352"/>
          </a:xfrm>
          <a:prstGeom prst="ellipse">
            <a:avLst/>
          </a:prstGeom>
          <a:solidFill>
            <a:srgbClr val="0E7C86"/>
          </a:solidFill>
          <a:ln/>
        </p:spPr>
      </p:sp>
      <p:pic>
        <p:nvPicPr>
          <p:cNvPr id="34" name="Image 8" descr="preencoded.png"/>
          <p:cNvPicPr>
            <a:picLocks noChangeAspect="1"/>
          </p:cNvPicPr>
          <p:nvPr/>
        </p:nvPicPr>
        <p:blipFill>
          <a:blip r:embed="rId10"/>
          <a:stretch>
            <a:fillRect/>
          </a:stretch>
        </p:blipFill>
        <p:spPr>
          <a:xfrm>
            <a:off x="7292340" y="5308092"/>
            <a:ext cx="265176" cy="265176"/>
          </a:xfrm>
          <a:prstGeom prst="rect">
            <a:avLst/>
          </a:prstGeom>
        </p:spPr>
      </p:pic>
      <p:sp>
        <p:nvSpPr>
          <p:cNvPr id="35" name="Text 24"/>
          <p:cNvSpPr/>
          <p:nvPr/>
        </p:nvSpPr>
        <p:spPr>
          <a:xfrm>
            <a:off x="7863840" y="5038344"/>
            <a:ext cx="356616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Data Understanding</a:t>
            </a:r>
            <a:endParaRPr lang="en-US" sz="1450" dirty="0"/>
          </a:p>
        </p:txBody>
      </p:sp>
      <p:sp>
        <p:nvSpPr>
          <p:cNvPr id="36" name="Text 25"/>
          <p:cNvSpPr/>
          <p:nvPr/>
        </p:nvSpPr>
        <p:spPr>
          <a:xfrm>
            <a:off x="7863840" y="5422392"/>
            <a:ext cx="3566160" cy="365760"/>
          </a:xfrm>
          <a:prstGeom prst="rect">
            <a:avLst/>
          </a:prstGeom>
          <a:noFill/>
          <a:ln/>
        </p:spPr>
        <p:txBody>
          <a:bodyPr wrap="square" lIns="0" tIns="0" rIns="0" bIns="0" rtlCol="0" anchor="ctr"/>
          <a:lstStyle/>
          <a:p>
            <a:pPr marL="0" indent="0">
              <a:buNone/>
            </a:pPr>
            <a:r>
              <a:rPr lang="en-US" sz="1050" i="1" dirty="0">
                <a:solidFill>
                  <a:srgbClr val="9FB0BE"/>
                </a:solidFill>
                <a:latin typeface="Calibri" pitchFamily="34" charset="0"/>
                <a:ea typeface="Calibri" pitchFamily="34" charset="-122"/>
                <a:cs typeface="Calibri" pitchFamily="34" charset="-120"/>
              </a:rPr>
              <a:t>Meaning &amp; context</a:t>
            </a:r>
            <a:endParaRPr lang="en-US" sz="1050" dirty="0"/>
          </a:p>
        </p:txBody>
      </p:sp>
      <p:sp>
        <p:nvSpPr>
          <p:cNvPr id="37" name="Text 2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38" name="Text 2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DATA CLEANING &amp; PREPROCESSING</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Preparing the Data for Analysis</a:t>
            </a:r>
            <a:endParaRPr lang="en-US" sz="3200" dirty="0"/>
          </a:p>
        </p:txBody>
      </p:sp>
      <p:sp>
        <p:nvSpPr>
          <p:cNvPr id="4" name="Shape 2"/>
          <p:cNvSpPr/>
          <p:nvPr/>
        </p:nvSpPr>
        <p:spPr>
          <a:xfrm>
            <a:off x="586588" y="1691640"/>
            <a:ext cx="3520440" cy="1874520"/>
          </a:xfrm>
          <a:prstGeom prst="roundRect">
            <a:avLst>
              <a:gd name="adj" fmla="val 3415"/>
            </a:avLst>
          </a:prstGeom>
          <a:solidFill>
            <a:srgbClr val="EEF4F7"/>
          </a:solidFill>
          <a:ln/>
        </p:spPr>
      </p:sp>
      <p:sp>
        <p:nvSpPr>
          <p:cNvPr id="5" name="Shape 3"/>
          <p:cNvSpPr/>
          <p:nvPr/>
        </p:nvSpPr>
        <p:spPr>
          <a:xfrm>
            <a:off x="815188" y="1920240"/>
            <a:ext cx="512064" cy="512064"/>
          </a:xfrm>
          <a:prstGeom prst="ellipse">
            <a:avLst/>
          </a:prstGeom>
          <a:solidFill>
            <a:srgbClr val="0E7C86"/>
          </a:solidFill>
          <a:ln/>
        </p:spPr>
      </p:sp>
      <p:pic>
        <p:nvPicPr>
          <p:cNvPr id="6" name="Image 0" descr="preencoded.png"/>
          <p:cNvPicPr>
            <a:picLocks noChangeAspect="1"/>
          </p:cNvPicPr>
          <p:nvPr/>
        </p:nvPicPr>
        <p:blipFill>
          <a:blip r:embed="rId3"/>
          <a:stretch>
            <a:fillRect/>
          </a:stretch>
        </p:blipFill>
        <p:spPr>
          <a:xfrm>
            <a:off x="938083" y="2043135"/>
            <a:ext cx="266273" cy="266273"/>
          </a:xfrm>
          <a:prstGeom prst="rect">
            <a:avLst/>
          </a:prstGeom>
        </p:spPr>
      </p:pic>
      <p:sp>
        <p:nvSpPr>
          <p:cNvPr id="7" name="Text 4"/>
          <p:cNvSpPr/>
          <p:nvPr/>
        </p:nvSpPr>
        <p:spPr>
          <a:xfrm>
            <a:off x="3604108" y="1801368"/>
            <a:ext cx="365760" cy="365760"/>
          </a:xfrm>
          <a:prstGeom prst="rect">
            <a:avLst/>
          </a:prstGeom>
          <a:noFill/>
          <a:ln/>
        </p:spPr>
        <p:txBody>
          <a:bodyPr wrap="square" lIns="0" tIns="0" rIns="0" bIns="0" rtlCol="0" anchor="ctr"/>
          <a:lstStyle/>
          <a:p>
            <a:pPr marL="0" indent="0" algn="r">
              <a:buNone/>
            </a:pPr>
            <a:r>
              <a:rPr lang="en-US" sz="1600" b="1" dirty="0">
                <a:solidFill>
                  <a:srgbClr val="DCE7EE"/>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1455268" y="1938528"/>
            <a:ext cx="2468880" cy="50292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Assign Column Names</a:t>
            </a:r>
            <a:endParaRPr lang="en-US" sz="1250" dirty="0"/>
          </a:p>
        </p:txBody>
      </p:sp>
      <p:sp>
        <p:nvSpPr>
          <p:cNvPr id="9" name="Text 6"/>
          <p:cNvSpPr/>
          <p:nvPr/>
        </p:nvSpPr>
        <p:spPr>
          <a:xfrm>
            <a:off x="815188" y="2587752"/>
            <a:ext cx="3063240" cy="868680"/>
          </a:xfrm>
          <a:prstGeom prst="rect">
            <a:avLst/>
          </a:prstGeom>
          <a:noFill/>
          <a:ln/>
        </p:spPr>
        <p:txBody>
          <a:bodyPr wrap="square" lIns="0" tIns="0" rIns="0" bIns="0" rtlCol="0" anchor="ctr"/>
          <a:lstStyle/>
          <a:p>
            <a:pPr marL="0" indent="0">
              <a:lnSpc>
                <a:spcPct val="110000"/>
              </a:lnSpc>
              <a:buNone/>
            </a:pPr>
            <a:r>
              <a:rPr lang="en-US" sz="980" dirty="0">
                <a:solidFill>
                  <a:srgbClr val="5A6B7B"/>
                </a:solidFill>
                <a:latin typeface="Calibri" pitchFamily="34" charset="0"/>
                <a:ea typeface="Calibri" pitchFamily="34" charset="-122"/>
                <a:cs typeface="Calibri" pitchFamily="34" charset="-120"/>
              </a:rPr>
              <a:t>Mapped raw dataset columns to clear, descriptive feature names for readability.</a:t>
            </a:r>
            <a:endParaRPr lang="en-US" sz="980" dirty="0"/>
          </a:p>
        </p:txBody>
      </p:sp>
      <p:sp>
        <p:nvSpPr>
          <p:cNvPr id="10" name="Shape 7"/>
          <p:cNvSpPr/>
          <p:nvPr/>
        </p:nvSpPr>
        <p:spPr>
          <a:xfrm>
            <a:off x="4335628" y="1691640"/>
            <a:ext cx="3520440" cy="1874520"/>
          </a:xfrm>
          <a:prstGeom prst="roundRect">
            <a:avLst>
              <a:gd name="adj" fmla="val 3415"/>
            </a:avLst>
          </a:prstGeom>
          <a:solidFill>
            <a:srgbClr val="EEF4F7"/>
          </a:solidFill>
          <a:ln/>
        </p:spPr>
      </p:sp>
      <p:sp>
        <p:nvSpPr>
          <p:cNvPr id="11" name="Shape 8"/>
          <p:cNvSpPr/>
          <p:nvPr/>
        </p:nvSpPr>
        <p:spPr>
          <a:xfrm>
            <a:off x="4564228" y="1920240"/>
            <a:ext cx="512064" cy="512064"/>
          </a:xfrm>
          <a:prstGeom prst="ellipse">
            <a:avLst/>
          </a:prstGeom>
          <a:solidFill>
            <a:srgbClr val="0E7C86"/>
          </a:solidFill>
          <a:ln/>
        </p:spPr>
      </p:sp>
      <p:pic>
        <p:nvPicPr>
          <p:cNvPr id="12" name="Image 1" descr="preencoded.png"/>
          <p:cNvPicPr>
            <a:picLocks noChangeAspect="1"/>
          </p:cNvPicPr>
          <p:nvPr/>
        </p:nvPicPr>
        <p:blipFill>
          <a:blip r:embed="rId4"/>
          <a:stretch>
            <a:fillRect/>
          </a:stretch>
        </p:blipFill>
        <p:spPr>
          <a:xfrm>
            <a:off x="4687123" y="2043135"/>
            <a:ext cx="266273" cy="266273"/>
          </a:xfrm>
          <a:prstGeom prst="rect">
            <a:avLst/>
          </a:prstGeom>
        </p:spPr>
      </p:pic>
      <p:sp>
        <p:nvSpPr>
          <p:cNvPr id="13" name="Text 9"/>
          <p:cNvSpPr/>
          <p:nvPr/>
        </p:nvSpPr>
        <p:spPr>
          <a:xfrm>
            <a:off x="7353148" y="1801368"/>
            <a:ext cx="365760" cy="365760"/>
          </a:xfrm>
          <a:prstGeom prst="rect">
            <a:avLst/>
          </a:prstGeom>
          <a:noFill/>
          <a:ln/>
        </p:spPr>
        <p:txBody>
          <a:bodyPr wrap="square" lIns="0" tIns="0" rIns="0" bIns="0" rtlCol="0" anchor="ctr"/>
          <a:lstStyle/>
          <a:p>
            <a:pPr marL="0" indent="0" algn="r">
              <a:buNone/>
            </a:pPr>
            <a:r>
              <a:rPr lang="en-US" sz="1600" b="1" dirty="0">
                <a:solidFill>
                  <a:srgbClr val="DCE7EE"/>
                </a:solidFill>
                <a:latin typeface="Cambria" pitchFamily="34" charset="0"/>
                <a:ea typeface="Cambria" pitchFamily="34" charset="-122"/>
                <a:cs typeface="Cambria" pitchFamily="34" charset="-120"/>
              </a:rPr>
              <a:t>2</a:t>
            </a:r>
            <a:endParaRPr lang="en-US" sz="1600" dirty="0"/>
          </a:p>
        </p:txBody>
      </p:sp>
      <p:sp>
        <p:nvSpPr>
          <p:cNvPr id="14" name="Text 10"/>
          <p:cNvSpPr/>
          <p:nvPr/>
        </p:nvSpPr>
        <p:spPr>
          <a:xfrm>
            <a:off x="5204308" y="1938528"/>
            <a:ext cx="2468880" cy="50292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Detect Missing Values</a:t>
            </a:r>
            <a:endParaRPr lang="en-US" sz="1250" dirty="0"/>
          </a:p>
        </p:txBody>
      </p:sp>
      <p:sp>
        <p:nvSpPr>
          <p:cNvPr id="15" name="Text 11"/>
          <p:cNvSpPr/>
          <p:nvPr/>
        </p:nvSpPr>
        <p:spPr>
          <a:xfrm>
            <a:off x="4564228" y="2587752"/>
            <a:ext cx="3063240" cy="868680"/>
          </a:xfrm>
          <a:prstGeom prst="rect">
            <a:avLst/>
          </a:prstGeom>
          <a:noFill/>
          <a:ln/>
        </p:spPr>
        <p:txBody>
          <a:bodyPr wrap="square" lIns="0" tIns="0" rIns="0" bIns="0" rtlCol="0" anchor="ctr"/>
          <a:lstStyle/>
          <a:p>
            <a:pPr marL="0" indent="0">
              <a:lnSpc>
                <a:spcPct val="110000"/>
              </a:lnSpc>
              <a:buNone/>
            </a:pPr>
            <a:r>
              <a:rPr lang="en-US" sz="980" dirty="0">
                <a:solidFill>
                  <a:srgbClr val="5A6B7B"/>
                </a:solidFill>
                <a:latin typeface="Calibri" pitchFamily="34" charset="0"/>
                <a:ea typeface="Calibri" pitchFamily="34" charset="-122"/>
                <a:cs typeface="Calibri" pitchFamily="34" charset="-120"/>
              </a:rPr>
              <a:t>Scanned every column to identify gaps or inconsistent entries before proceeding.</a:t>
            </a:r>
            <a:endParaRPr lang="en-US" sz="980" dirty="0"/>
          </a:p>
        </p:txBody>
      </p:sp>
      <p:sp>
        <p:nvSpPr>
          <p:cNvPr id="16" name="Shape 12"/>
          <p:cNvSpPr/>
          <p:nvPr/>
        </p:nvSpPr>
        <p:spPr>
          <a:xfrm>
            <a:off x="8084668" y="1691640"/>
            <a:ext cx="3520440" cy="1874520"/>
          </a:xfrm>
          <a:prstGeom prst="roundRect">
            <a:avLst>
              <a:gd name="adj" fmla="val 3415"/>
            </a:avLst>
          </a:prstGeom>
          <a:solidFill>
            <a:srgbClr val="EEF4F7"/>
          </a:solidFill>
          <a:ln/>
        </p:spPr>
      </p:sp>
      <p:sp>
        <p:nvSpPr>
          <p:cNvPr id="17" name="Shape 13"/>
          <p:cNvSpPr/>
          <p:nvPr/>
        </p:nvSpPr>
        <p:spPr>
          <a:xfrm>
            <a:off x="8313268" y="1920240"/>
            <a:ext cx="512064" cy="512064"/>
          </a:xfrm>
          <a:prstGeom prst="ellipse">
            <a:avLst/>
          </a:prstGeom>
          <a:solidFill>
            <a:srgbClr val="0E7C86"/>
          </a:solidFill>
          <a:ln/>
        </p:spPr>
      </p:sp>
      <p:pic>
        <p:nvPicPr>
          <p:cNvPr id="18" name="Image 2" descr="preencoded.png"/>
          <p:cNvPicPr>
            <a:picLocks noChangeAspect="1"/>
          </p:cNvPicPr>
          <p:nvPr/>
        </p:nvPicPr>
        <p:blipFill>
          <a:blip r:embed="rId5"/>
          <a:stretch>
            <a:fillRect/>
          </a:stretch>
        </p:blipFill>
        <p:spPr>
          <a:xfrm>
            <a:off x="8436163" y="2043135"/>
            <a:ext cx="266273" cy="266273"/>
          </a:xfrm>
          <a:prstGeom prst="rect">
            <a:avLst/>
          </a:prstGeom>
        </p:spPr>
      </p:pic>
      <p:sp>
        <p:nvSpPr>
          <p:cNvPr id="19" name="Text 14"/>
          <p:cNvSpPr/>
          <p:nvPr/>
        </p:nvSpPr>
        <p:spPr>
          <a:xfrm>
            <a:off x="11102188" y="1801368"/>
            <a:ext cx="365760" cy="365760"/>
          </a:xfrm>
          <a:prstGeom prst="rect">
            <a:avLst/>
          </a:prstGeom>
          <a:noFill/>
          <a:ln/>
        </p:spPr>
        <p:txBody>
          <a:bodyPr wrap="square" lIns="0" tIns="0" rIns="0" bIns="0" rtlCol="0" anchor="ctr"/>
          <a:lstStyle/>
          <a:p>
            <a:pPr marL="0" indent="0" algn="r">
              <a:buNone/>
            </a:pPr>
            <a:r>
              <a:rPr lang="en-US" sz="1600" b="1" dirty="0">
                <a:solidFill>
                  <a:srgbClr val="DCE7EE"/>
                </a:solidFill>
                <a:latin typeface="Cambria" pitchFamily="34" charset="0"/>
                <a:ea typeface="Cambria" pitchFamily="34" charset="-122"/>
                <a:cs typeface="Cambria" pitchFamily="34" charset="-120"/>
              </a:rPr>
              <a:t>3</a:t>
            </a:r>
            <a:endParaRPr lang="en-US" sz="1600" dirty="0"/>
          </a:p>
        </p:txBody>
      </p:sp>
      <p:sp>
        <p:nvSpPr>
          <p:cNvPr id="20" name="Text 15"/>
          <p:cNvSpPr/>
          <p:nvPr/>
        </p:nvSpPr>
        <p:spPr>
          <a:xfrm>
            <a:off x="8953348" y="1938528"/>
            <a:ext cx="2468880" cy="50292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Replace '?' with NaN</a:t>
            </a:r>
            <a:endParaRPr lang="en-US" sz="1250" dirty="0"/>
          </a:p>
        </p:txBody>
      </p:sp>
      <p:sp>
        <p:nvSpPr>
          <p:cNvPr id="21" name="Text 16"/>
          <p:cNvSpPr/>
          <p:nvPr/>
        </p:nvSpPr>
        <p:spPr>
          <a:xfrm>
            <a:off x="8313268" y="2587752"/>
            <a:ext cx="3063240" cy="868680"/>
          </a:xfrm>
          <a:prstGeom prst="rect">
            <a:avLst/>
          </a:prstGeom>
          <a:noFill/>
          <a:ln/>
        </p:spPr>
        <p:txBody>
          <a:bodyPr wrap="square" lIns="0" tIns="0" rIns="0" bIns="0" rtlCol="0" anchor="ctr"/>
          <a:lstStyle/>
          <a:p>
            <a:pPr marL="0" indent="0">
              <a:lnSpc>
                <a:spcPct val="110000"/>
              </a:lnSpc>
              <a:buNone/>
            </a:pPr>
            <a:r>
              <a:rPr lang="en-US" sz="980" dirty="0">
                <a:solidFill>
                  <a:srgbClr val="5A6B7B"/>
                </a:solidFill>
                <a:latin typeface="Calibri" pitchFamily="34" charset="0"/>
                <a:ea typeface="Calibri" pitchFamily="34" charset="-122"/>
                <a:cs typeface="Calibri" pitchFamily="34" charset="-120"/>
              </a:rPr>
              <a:t>Converted non-standard missing-value markers into a consistent, recognized null format.</a:t>
            </a:r>
            <a:endParaRPr lang="en-US" sz="980" dirty="0"/>
          </a:p>
        </p:txBody>
      </p:sp>
      <p:sp>
        <p:nvSpPr>
          <p:cNvPr id="22" name="Shape 17"/>
          <p:cNvSpPr/>
          <p:nvPr/>
        </p:nvSpPr>
        <p:spPr>
          <a:xfrm>
            <a:off x="586588" y="3840480"/>
            <a:ext cx="3520440" cy="1874520"/>
          </a:xfrm>
          <a:prstGeom prst="roundRect">
            <a:avLst>
              <a:gd name="adj" fmla="val 3415"/>
            </a:avLst>
          </a:prstGeom>
          <a:solidFill>
            <a:srgbClr val="EEF4F7"/>
          </a:solidFill>
          <a:ln/>
        </p:spPr>
      </p:sp>
      <p:sp>
        <p:nvSpPr>
          <p:cNvPr id="23" name="Shape 18"/>
          <p:cNvSpPr/>
          <p:nvPr/>
        </p:nvSpPr>
        <p:spPr>
          <a:xfrm>
            <a:off x="815188" y="4069080"/>
            <a:ext cx="512064" cy="512064"/>
          </a:xfrm>
          <a:prstGeom prst="ellipse">
            <a:avLst/>
          </a:prstGeom>
          <a:solidFill>
            <a:srgbClr val="0E7C86"/>
          </a:solidFill>
          <a:ln/>
        </p:spPr>
      </p:sp>
      <p:pic>
        <p:nvPicPr>
          <p:cNvPr id="24" name="Image 3" descr="preencoded.png"/>
          <p:cNvPicPr>
            <a:picLocks noChangeAspect="1"/>
          </p:cNvPicPr>
          <p:nvPr/>
        </p:nvPicPr>
        <p:blipFill>
          <a:blip r:embed="rId6"/>
          <a:stretch>
            <a:fillRect/>
          </a:stretch>
        </p:blipFill>
        <p:spPr>
          <a:xfrm>
            <a:off x="938083" y="4191975"/>
            <a:ext cx="266273" cy="266273"/>
          </a:xfrm>
          <a:prstGeom prst="rect">
            <a:avLst/>
          </a:prstGeom>
        </p:spPr>
      </p:pic>
      <p:sp>
        <p:nvSpPr>
          <p:cNvPr id="25" name="Text 19"/>
          <p:cNvSpPr/>
          <p:nvPr/>
        </p:nvSpPr>
        <p:spPr>
          <a:xfrm>
            <a:off x="3604108" y="3950208"/>
            <a:ext cx="365760" cy="365760"/>
          </a:xfrm>
          <a:prstGeom prst="rect">
            <a:avLst/>
          </a:prstGeom>
          <a:noFill/>
          <a:ln/>
        </p:spPr>
        <p:txBody>
          <a:bodyPr wrap="square" lIns="0" tIns="0" rIns="0" bIns="0" rtlCol="0" anchor="ctr"/>
          <a:lstStyle/>
          <a:p>
            <a:pPr marL="0" indent="0" algn="r">
              <a:buNone/>
            </a:pPr>
            <a:r>
              <a:rPr lang="en-US" sz="1600" b="1" dirty="0">
                <a:solidFill>
                  <a:srgbClr val="DCE7EE"/>
                </a:solidFill>
                <a:latin typeface="Cambria" pitchFamily="34" charset="0"/>
                <a:ea typeface="Cambria" pitchFamily="34" charset="-122"/>
                <a:cs typeface="Cambria" pitchFamily="34" charset="-120"/>
              </a:rPr>
              <a:t>4</a:t>
            </a:r>
            <a:endParaRPr lang="en-US" sz="1600" dirty="0"/>
          </a:p>
        </p:txBody>
      </p:sp>
      <p:sp>
        <p:nvSpPr>
          <p:cNvPr id="26" name="Text 20"/>
          <p:cNvSpPr/>
          <p:nvPr/>
        </p:nvSpPr>
        <p:spPr>
          <a:xfrm>
            <a:off x="1455268" y="4087368"/>
            <a:ext cx="2468880" cy="50292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Convert Data Types</a:t>
            </a:r>
            <a:endParaRPr lang="en-US" sz="1250" dirty="0"/>
          </a:p>
        </p:txBody>
      </p:sp>
      <p:sp>
        <p:nvSpPr>
          <p:cNvPr id="27" name="Text 21"/>
          <p:cNvSpPr/>
          <p:nvPr/>
        </p:nvSpPr>
        <p:spPr>
          <a:xfrm>
            <a:off x="815188" y="4736592"/>
            <a:ext cx="3063240" cy="868680"/>
          </a:xfrm>
          <a:prstGeom prst="rect">
            <a:avLst/>
          </a:prstGeom>
          <a:noFill/>
          <a:ln/>
        </p:spPr>
        <p:txBody>
          <a:bodyPr wrap="square" lIns="0" tIns="0" rIns="0" bIns="0" rtlCol="0" anchor="ctr"/>
          <a:lstStyle/>
          <a:p>
            <a:pPr marL="0" indent="0">
              <a:lnSpc>
                <a:spcPct val="110000"/>
              </a:lnSpc>
              <a:buNone/>
            </a:pPr>
            <a:r>
              <a:rPr lang="en-US" sz="980" dirty="0">
                <a:solidFill>
                  <a:srgbClr val="5A6B7B"/>
                </a:solidFill>
                <a:latin typeface="Calibri" pitchFamily="34" charset="0"/>
                <a:ea typeface="Calibri" pitchFamily="34" charset="-122"/>
                <a:cs typeface="Calibri" pitchFamily="34" charset="-120"/>
              </a:rPr>
              <a:t>Ensured numeric fields were stored as numbers and categorical fields were correctly typed.</a:t>
            </a:r>
            <a:endParaRPr lang="en-US" sz="980" dirty="0"/>
          </a:p>
        </p:txBody>
      </p:sp>
      <p:sp>
        <p:nvSpPr>
          <p:cNvPr id="28" name="Shape 22"/>
          <p:cNvSpPr/>
          <p:nvPr/>
        </p:nvSpPr>
        <p:spPr>
          <a:xfrm>
            <a:off x="4335628" y="3840480"/>
            <a:ext cx="3520440" cy="1874520"/>
          </a:xfrm>
          <a:prstGeom prst="roundRect">
            <a:avLst>
              <a:gd name="adj" fmla="val 3415"/>
            </a:avLst>
          </a:prstGeom>
          <a:solidFill>
            <a:srgbClr val="EEF4F7"/>
          </a:solidFill>
          <a:ln/>
        </p:spPr>
      </p:sp>
      <p:sp>
        <p:nvSpPr>
          <p:cNvPr id="29" name="Shape 23"/>
          <p:cNvSpPr/>
          <p:nvPr/>
        </p:nvSpPr>
        <p:spPr>
          <a:xfrm>
            <a:off x="4564228" y="4069080"/>
            <a:ext cx="512064" cy="512064"/>
          </a:xfrm>
          <a:prstGeom prst="ellipse">
            <a:avLst/>
          </a:prstGeom>
          <a:solidFill>
            <a:srgbClr val="0E7C86"/>
          </a:solidFill>
          <a:ln/>
        </p:spPr>
      </p:sp>
      <p:pic>
        <p:nvPicPr>
          <p:cNvPr id="30" name="Image 4" descr="preencoded.png"/>
          <p:cNvPicPr>
            <a:picLocks noChangeAspect="1"/>
          </p:cNvPicPr>
          <p:nvPr/>
        </p:nvPicPr>
        <p:blipFill>
          <a:blip r:embed="rId7"/>
          <a:stretch>
            <a:fillRect/>
          </a:stretch>
        </p:blipFill>
        <p:spPr>
          <a:xfrm>
            <a:off x="4687123" y="4191975"/>
            <a:ext cx="266273" cy="266273"/>
          </a:xfrm>
          <a:prstGeom prst="rect">
            <a:avLst/>
          </a:prstGeom>
        </p:spPr>
      </p:pic>
      <p:sp>
        <p:nvSpPr>
          <p:cNvPr id="31" name="Text 24"/>
          <p:cNvSpPr/>
          <p:nvPr/>
        </p:nvSpPr>
        <p:spPr>
          <a:xfrm>
            <a:off x="7353148" y="3950208"/>
            <a:ext cx="365760" cy="365760"/>
          </a:xfrm>
          <a:prstGeom prst="rect">
            <a:avLst/>
          </a:prstGeom>
          <a:noFill/>
          <a:ln/>
        </p:spPr>
        <p:txBody>
          <a:bodyPr wrap="square" lIns="0" tIns="0" rIns="0" bIns="0" rtlCol="0" anchor="ctr"/>
          <a:lstStyle/>
          <a:p>
            <a:pPr marL="0" indent="0" algn="r">
              <a:buNone/>
            </a:pPr>
            <a:r>
              <a:rPr lang="en-US" sz="1600" b="1" dirty="0">
                <a:solidFill>
                  <a:srgbClr val="DCE7EE"/>
                </a:solidFill>
                <a:latin typeface="Cambria" pitchFamily="34" charset="0"/>
                <a:ea typeface="Cambria" pitchFamily="34" charset="-122"/>
                <a:cs typeface="Cambria" pitchFamily="34" charset="-120"/>
              </a:rPr>
              <a:t>5</a:t>
            </a:r>
            <a:endParaRPr lang="en-US" sz="1600" dirty="0"/>
          </a:p>
        </p:txBody>
      </p:sp>
      <p:sp>
        <p:nvSpPr>
          <p:cNvPr id="32" name="Text 25"/>
          <p:cNvSpPr/>
          <p:nvPr/>
        </p:nvSpPr>
        <p:spPr>
          <a:xfrm>
            <a:off x="5204308" y="4087368"/>
            <a:ext cx="2468880" cy="50292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Remove Incomplete Records</a:t>
            </a:r>
            <a:endParaRPr lang="en-US" sz="1250" dirty="0"/>
          </a:p>
        </p:txBody>
      </p:sp>
      <p:sp>
        <p:nvSpPr>
          <p:cNvPr id="33" name="Text 26"/>
          <p:cNvSpPr/>
          <p:nvPr/>
        </p:nvSpPr>
        <p:spPr>
          <a:xfrm>
            <a:off x="4564228" y="4736592"/>
            <a:ext cx="3063240" cy="868680"/>
          </a:xfrm>
          <a:prstGeom prst="rect">
            <a:avLst/>
          </a:prstGeom>
          <a:noFill/>
          <a:ln/>
        </p:spPr>
        <p:txBody>
          <a:bodyPr wrap="square" lIns="0" tIns="0" rIns="0" bIns="0" rtlCol="0" anchor="ctr"/>
          <a:lstStyle/>
          <a:p>
            <a:pPr marL="0" indent="0">
              <a:lnSpc>
                <a:spcPct val="110000"/>
              </a:lnSpc>
              <a:buNone/>
            </a:pPr>
            <a:r>
              <a:rPr lang="en-US" sz="980" dirty="0">
                <a:solidFill>
                  <a:srgbClr val="5A6B7B"/>
                </a:solidFill>
                <a:latin typeface="Calibri" pitchFamily="34" charset="0"/>
                <a:ea typeface="Calibri" pitchFamily="34" charset="-122"/>
                <a:cs typeface="Calibri" pitchFamily="34" charset="-120"/>
              </a:rPr>
              <a:t>Dropped rows with unresolvable missing data to preserve analysis integrity.</a:t>
            </a:r>
            <a:endParaRPr lang="en-US" sz="980" dirty="0"/>
          </a:p>
        </p:txBody>
      </p:sp>
      <p:sp>
        <p:nvSpPr>
          <p:cNvPr id="34" name="Shape 27"/>
          <p:cNvSpPr/>
          <p:nvPr/>
        </p:nvSpPr>
        <p:spPr>
          <a:xfrm>
            <a:off x="8084668" y="3840480"/>
            <a:ext cx="3520440" cy="1874520"/>
          </a:xfrm>
          <a:prstGeom prst="roundRect">
            <a:avLst>
              <a:gd name="adj" fmla="val 3415"/>
            </a:avLst>
          </a:prstGeom>
          <a:solidFill>
            <a:srgbClr val="EEF4F7"/>
          </a:solidFill>
          <a:ln/>
        </p:spPr>
      </p:sp>
      <p:sp>
        <p:nvSpPr>
          <p:cNvPr id="35" name="Shape 28"/>
          <p:cNvSpPr/>
          <p:nvPr/>
        </p:nvSpPr>
        <p:spPr>
          <a:xfrm>
            <a:off x="8313268" y="4069080"/>
            <a:ext cx="512064" cy="512064"/>
          </a:xfrm>
          <a:prstGeom prst="ellipse">
            <a:avLst/>
          </a:prstGeom>
          <a:solidFill>
            <a:srgbClr val="0E7C86"/>
          </a:solidFill>
          <a:ln/>
        </p:spPr>
      </p:sp>
      <p:pic>
        <p:nvPicPr>
          <p:cNvPr id="36" name="Image 5" descr="preencoded.png"/>
          <p:cNvPicPr>
            <a:picLocks noChangeAspect="1"/>
          </p:cNvPicPr>
          <p:nvPr/>
        </p:nvPicPr>
        <p:blipFill>
          <a:blip r:embed="rId8"/>
          <a:stretch>
            <a:fillRect/>
          </a:stretch>
        </p:blipFill>
        <p:spPr>
          <a:xfrm>
            <a:off x="8436163" y="4191975"/>
            <a:ext cx="266273" cy="266273"/>
          </a:xfrm>
          <a:prstGeom prst="rect">
            <a:avLst/>
          </a:prstGeom>
        </p:spPr>
      </p:pic>
      <p:sp>
        <p:nvSpPr>
          <p:cNvPr id="37" name="Text 29"/>
          <p:cNvSpPr/>
          <p:nvPr/>
        </p:nvSpPr>
        <p:spPr>
          <a:xfrm>
            <a:off x="11102188" y="3950208"/>
            <a:ext cx="365760" cy="365760"/>
          </a:xfrm>
          <a:prstGeom prst="rect">
            <a:avLst/>
          </a:prstGeom>
          <a:noFill/>
          <a:ln/>
        </p:spPr>
        <p:txBody>
          <a:bodyPr wrap="square" lIns="0" tIns="0" rIns="0" bIns="0" rtlCol="0" anchor="ctr"/>
          <a:lstStyle/>
          <a:p>
            <a:pPr marL="0" indent="0" algn="r">
              <a:buNone/>
            </a:pPr>
            <a:r>
              <a:rPr lang="en-US" sz="1600" b="1" dirty="0">
                <a:solidFill>
                  <a:srgbClr val="DCE7EE"/>
                </a:solidFill>
                <a:latin typeface="Cambria" pitchFamily="34" charset="0"/>
                <a:ea typeface="Cambria" pitchFamily="34" charset="-122"/>
                <a:cs typeface="Cambria" pitchFamily="34" charset="-120"/>
              </a:rPr>
              <a:t>6</a:t>
            </a:r>
            <a:endParaRPr lang="en-US" sz="1600" dirty="0"/>
          </a:p>
        </p:txBody>
      </p:sp>
      <p:sp>
        <p:nvSpPr>
          <p:cNvPr id="38" name="Text 30"/>
          <p:cNvSpPr/>
          <p:nvPr/>
        </p:nvSpPr>
        <p:spPr>
          <a:xfrm>
            <a:off x="8953348" y="4087368"/>
            <a:ext cx="2468880" cy="502920"/>
          </a:xfrm>
          <a:prstGeom prst="rect">
            <a:avLst/>
          </a:prstGeom>
          <a:noFill/>
          <a:ln/>
        </p:spPr>
        <p:txBody>
          <a:bodyPr wrap="square" lIns="0" tIns="0" rIns="0" bIns="0" rtlCol="0" anchor="t"/>
          <a:lstStyle/>
          <a:p>
            <a:pPr marL="0" indent="0">
              <a:buNone/>
            </a:pPr>
            <a:r>
              <a:rPr lang="en-US" sz="1250" b="1" dirty="0">
                <a:solidFill>
                  <a:srgbClr val="0B1F3A"/>
                </a:solidFill>
                <a:latin typeface="Calibri" pitchFamily="34" charset="0"/>
                <a:ea typeface="Calibri" pitchFamily="34" charset="-122"/>
                <a:cs typeface="Calibri" pitchFamily="34" charset="-120"/>
              </a:rPr>
              <a:t>Create Binary Target</a:t>
            </a:r>
            <a:endParaRPr lang="en-US" sz="1250" dirty="0"/>
          </a:p>
        </p:txBody>
      </p:sp>
      <p:sp>
        <p:nvSpPr>
          <p:cNvPr id="39" name="Text 31"/>
          <p:cNvSpPr/>
          <p:nvPr/>
        </p:nvSpPr>
        <p:spPr>
          <a:xfrm>
            <a:off x="8313268" y="4736592"/>
            <a:ext cx="3063240" cy="868680"/>
          </a:xfrm>
          <a:prstGeom prst="rect">
            <a:avLst/>
          </a:prstGeom>
          <a:noFill/>
          <a:ln/>
        </p:spPr>
        <p:txBody>
          <a:bodyPr wrap="square" lIns="0" tIns="0" rIns="0" bIns="0" rtlCol="0" anchor="ctr"/>
          <a:lstStyle/>
          <a:p>
            <a:pPr marL="0" indent="0">
              <a:lnSpc>
                <a:spcPct val="110000"/>
              </a:lnSpc>
              <a:buNone/>
            </a:pPr>
            <a:r>
              <a:rPr lang="en-US" sz="980" dirty="0">
                <a:solidFill>
                  <a:srgbClr val="5A6B7B"/>
                </a:solidFill>
                <a:latin typeface="Calibri" pitchFamily="34" charset="0"/>
                <a:ea typeface="Calibri" pitchFamily="34" charset="-122"/>
                <a:cs typeface="Calibri" pitchFamily="34" charset="-120"/>
              </a:rPr>
              <a:t>Engineered a clean heart_disease (0/1) variable from the original multi-class target.</a:t>
            </a:r>
            <a:endParaRPr lang="en-US" sz="980" dirty="0"/>
          </a:p>
        </p:txBody>
      </p:sp>
      <p:sp>
        <p:nvSpPr>
          <p:cNvPr id="40" name="Text 3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41" name="Text 33"/>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EDA METHODOLOGY</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Our Exploratory Data Analysis Approach</a:t>
            </a:r>
            <a:endParaRPr lang="en-US" sz="3200" dirty="0"/>
          </a:p>
        </p:txBody>
      </p:sp>
      <p:sp>
        <p:nvSpPr>
          <p:cNvPr id="4" name="Shape 2"/>
          <p:cNvSpPr/>
          <p:nvPr/>
        </p:nvSpPr>
        <p:spPr>
          <a:xfrm>
            <a:off x="586588" y="1691640"/>
            <a:ext cx="3520440" cy="1965960"/>
          </a:xfrm>
          <a:prstGeom prst="roundRect">
            <a:avLst>
              <a:gd name="adj" fmla="val 3721"/>
            </a:avLst>
          </a:prstGeom>
          <a:solidFill>
            <a:srgbClr val="FFFFFF"/>
          </a:solidFill>
          <a:ln/>
          <a:effectLst>
            <a:outerShdw blurRad="101600" dist="38100" dir="2700000" algn="bl" rotWithShape="0">
              <a:srgbClr val="0B1F3A">
                <a:alpha val="12000"/>
              </a:srgbClr>
            </a:outerShdw>
          </a:effectLst>
        </p:spPr>
      </p:sp>
      <p:sp>
        <p:nvSpPr>
          <p:cNvPr id="5" name="Shape 3"/>
          <p:cNvSpPr/>
          <p:nvPr/>
        </p:nvSpPr>
        <p:spPr>
          <a:xfrm>
            <a:off x="2045056" y="1920240"/>
            <a:ext cx="603504" cy="603504"/>
          </a:xfrm>
          <a:prstGeom prst="ellipse">
            <a:avLst/>
          </a:prstGeom>
          <a:solidFill>
            <a:srgbClr val="0B1F3A"/>
          </a:solidFill>
          <a:ln/>
        </p:spPr>
      </p:sp>
      <p:pic>
        <p:nvPicPr>
          <p:cNvPr id="6" name="Image 0" descr="preencoded.png"/>
          <p:cNvPicPr>
            <a:picLocks noChangeAspect="1"/>
          </p:cNvPicPr>
          <p:nvPr/>
        </p:nvPicPr>
        <p:blipFill>
          <a:blip r:embed="rId3"/>
          <a:stretch>
            <a:fillRect/>
          </a:stretch>
        </p:blipFill>
        <p:spPr>
          <a:xfrm>
            <a:off x="2195932" y="2071116"/>
            <a:ext cx="301752" cy="301752"/>
          </a:xfrm>
          <a:prstGeom prst="rect">
            <a:avLst/>
          </a:prstGeom>
        </p:spPr>
      </p:pic>
      <p:sp>
        <p:nvSpPr>
          <p:cNvPr id="7" name="Text 4"/>
          <p:cNvSpPr/>
          <p:nvPr/>
        </p:nvSpPr>
        <p:spPr>
          <a:xfrm>
            <a:off x="815188" y="2651760"/>
            <a:ext cx="3063240" cy="36576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Univariate Analysis</a:t>
            </a:r>
            <a:endParaRPr lang="en-US" sz="1300" dirty="0"/>
          </a:p>
        </p:txBody>
      </p:sp>
      <p:sp>
        <p:nvSpPr>
          <p:cNvPr id="8" name="Text 5"/>
          <p:cNvSpPr/>
          <p:nvPr/>
        </p:nvSpPr>
        <p:spPr>
          <a:xfrm>
            <a:off x="860908" y="3017520"/>
            <a:ext cx="2971800" cy="594360"/>
          </a:xfrm>
          <a:prstGeom prst="rect">
            <a:avLst/>
          </a:prstGeom>
          <a:noFill/>
          <a:ln/>
        </p:spPr>
        <p:txBody>
          <a:bodyPr wrap="square" lIns="0" tIns="0" rIns="0" bIns="0" rtlCol="0" anchor="ctr"/>
          <a:lstStyle/>
          <a:p>
            <a:pPr marL="0" indent="0" algn="ctr">
              <a:lnSpc>
                <a:spcPct val="110000"/>
              </a:lnSpc>
              <a:buNone/>
            </a:pPr>
            <a:r>
              <a:rPr lang="en-US" sz="980" dirty="0">
                <a:solidFill>
                  <a:srgbClr val="5A6B7B"/>
                </a:solidFill>
                <a:latin typeface="Calibri" pitchFamily="34" charset="0"/>
                <a:ea typeface="Calibri" pitchFamily="34" charset="-122"/>
                <a:cs typeface="Calibri" pitchFamily="34" charset="-120"/>
              </a:rPr>
              <a:t>Examining each variable individually to understand its distribution and range.</a:t>
            </a:r>
            <a:endParaRPr lang="en-US" sz="980" dirty="0"/>
          </a:p>
        </p:txBody>
      </p:sp>
      <p:sp>
        <p:nvSpPr>
          <p:cNvPr id="9" name="Shape 6"/>
          <p:cNvSpPr/>
          <p:nvPr/>
        </p:nvSpPr>
        <p:spPr>
          <a:xfrm>
            <a:off x="4335628" y="1691640"/>
            <a:ext cx="3520440" cy="1965960"/>
          </a:xfrm>
          <a:prstGeom prst="roundRect">
            <a:avLst>
              <a:gd name="adj" fmla="val 3721"/>
            </a:avLst>
          </a:prstGeom>
          <a:solidFill>
            <a:srgbClr val="FFFFFF"/>
          </a:solidFill>
          <a:ln/>
          <a:effectLst>
            <a:outerShdw blurRad="101600" dist="38100" dir="2700000" algn="bl" rotWithShape="0">
              <a:srgbClr val="0B1F3A">
                <a:alpha val="12000"/>
              </a:srgbClr>
            </a:outerShdw>
          </a:effectLst>
        </p:spPr>
      </p:sp>
      <p:sp>
        <p:nvSpPr>
          <p:cNvPr id="10" name="Shape 7"/>
          <p:cNvSpPr/>
          <p:nvPr/>
        </p:nvSpPr>
        <p:spPr>
          <a:xfrm>
            <a:off x="5794096" y="1920240"/>
            <a:ext cx="603504" cy="603504"/>
          </a:xfrm>
          <a:prstGeom prst="ellipse">
            <a:avLst/>
          </a:prstGeom>
          <a:solidFill>
            <a:srgbClr val="0B1F3A"/>
          </a:solidFill>
          <a:ln/>
        </p:spPr>
      </p:sp>
      <p:pic>
        <p:nvPicPr>
          <p:cNvPr id="11" name="Image 1" descr="preencoded.png"/>
          <p:cNvPicPr>
            <a:picLocks noChangeAspect="1"/>
          </p:cNvPicPr>
          <p:nvPr/>
        </p:nvPicPr>
        <p:blipFill>
          <a:blip r:embed="rId4"/>
          <a:stretch>
            <a:fillRect/>
          </a:stretch>
        </p:blipFill>
        <p:spPr>
          <a:xfrm>
            <a:off x="5944972" y="2071116"/>
            <a:ext cx="301752" cy="301752"/>
          </a:xfrm>
          <a:prstGeom prst="rect">
            <a:avLst/>
          </a:prstGeom>
        </p:spPr>
      </p:pic>
      <p:sp>
        <p:nvSpPr>
          <p:cNvPr id="12" name="Text 8"/>
          <p:cNvSpPr/>
          <p:nvPr/>
        </p:nvSpPr>
        <p:spPr>
          <a:xfrm>
            <a:off x="4564228" y="2651760"/>
            <a:ext cx="3063240" cy="36576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Bivariate Analysis</a:t>
            </a:r>
            <a:endParaRPr lang="en-US" sz="1300" dirty="0"/>
          </a:p>
        </p:txBody>
      </p:sp>
      <p:sp>
        <p:nvSpPr>
          <p:cNvPr id="13" name="Text 9"/>
          <p:cNvSpPr/>
          <p:nvPr/>
        </p:nvSpPr>
        <p:spPr>
          <a:xfrm>
            <a:off x="4609948" y="3017520"/>
            <a:ext cx="2971800" cy="594360"/>
          </a:xfrm>
          <a:prstGeom prst="rect">
            <a:avLst/>
          </a:prstGeom>
          <a:noFill/>
          <a:ln/>
        </p:spPr>
        <p:txBody>
          <a:bodyPr wrap="square" lIns="0" tIns="0" rIns="0" bIns="0" rtlCol="0" anchor="ctr"/>
          <a:lstStyle/>
          <a:p>
            <a:pPr marL="0" indent="0" algn="ctr">
              <a:lnSpc>
                <a:spcPct val="110000"/>
              </a:lnSpc>
              <a:buNone/>
            </a:pPr>
            <a:r>
              <a:rPr lang="en-US" sz="980" dirty="0">
                <a:solidFill>
                  <a:srgbClr val="5A6B7B"/>
                </a:solidFill>
                <a:latin typeface="Calibri" pitchFamily="34" charset="0"/>
                <a:ea typeface="Calibri" pitchFamily="34" charset="-122"/>
                <a:cs typeface="Calibri" pitchFamily="34" charset="-120"/>
              </a:rPr>
              <a:t>Studying relationships between pairs of variables, including against the target.</a:t>
            </a:r>
            <a:endParaRPr lang="en-US" sz="980" dirty="0"/>
          </a:p>
        </p:txBody>
      </p:sp>
      <p:sp>
        <p:nvSpPr>
          <p:cNvPr id="14" name="Shape 10"/>
          <p:cNvSpPr/>
          <p:nvPr/>
        </p:nvSpPr>
        <p:spPr>
          <a:xfrm>
            <a:off x="8084668" y="1691640"/>
            <a:ext cx="3520440" cy="1965960"/>
          </a:xfrm>
          <a:prstGeom prst="roundRect">
            <a:avLst>
              <a:gd name="adj" fmla="val 3721"/>
            </a:avLst>
          </a:prstGeom>
          <a:solidFill>
            <a:srgbClr val="FFFFFF"/>
          </a:solidFill>
          <a:ln/>
          <a:effectLst>
            <a:outerShdw blurRad="101600" dist="38100" dir="2700000" algn="bl" rotWithShape="0">
              <a:srgbClr val="0B1F3A">
                <a:alpha val="12000"/>
              </a:srgbClr>
            </a:outerShdw>
          </a:effectLst>
        </p:spPr>
      </p:sp>
      <p:sp>
        <p:nvSpPr>
          <p:cNvPr id="15" name="Shape 11"/>
          <p:cNvSpPr/>
          <p:nvPr/>
        </p:nvSpPr>
        <p:spPr>
          <a:xfrm>
            <a:off x="9543136" y="1920240"/>
            <a:ext cx="603504" cy="603504"/>
          </a:xfrm>
          <a:prstGeom prst="ellipse">
            <a:avLst/>
          </a:prstGeom>
          <a:solidFill>
            <a:srgbClr val="0B1F3A"/>
          </a:solidFill>
          <a:ln/>
        </p:spPr>
      </p:sp>
      <p:pic>
        <p:nvPicPr>
          <p:cNvPr id="16" name="Image 2" descr="preencoded.png"/>
          <p:cNvPicPr>
            <a:picLocks noChangeAspect="1"/>
          </p:cNvPicPr>
          <p:nvPr/>
        </p:nvPicPr>
        <p:blipFill>
          <a:blip r:embed="rId5"/>
          <a:stretch>
            <a:fillRect/>
          </a:stretch>
        </p:blipFill>
        <p:spPr>
          <a:xfrm>
            <a:off x="9694012" y="2071116"/>
            <a:ext cx="301752" cy="301752"/>
          </a:xfrm>
          <a:prstGeom prst="rect">
            <a:avLst/>
          </a:prstGeom>
        </p:spPr>
      </p:pic>
      <p:sp>
        <p:nvSpPr>
          <p:cNvPr id="17" name="Text 12"/>
          <p:cNvSpPr/>
          <p:nvPr/>
        </p:nvSpPr>
        <p:spPr>
          <a:xfrm>
            <a:off x="8313268" y="2651760"/>
            <a:ext cx="3063240" cy="36576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Distribution Analysis</a:t>
            </a:r>
            <a:endParaRPr lang="en-US" sz="1300" dirty="0"/>
          </a:p>
        </p:txBody>
      </p:sp>
      <p:sp>
        <p:nvSpPr>
          <p:cNvPr id="18" name="Text 13"/>
          <p:cNvSpPr/>
          <p:nvPr/>
        </p:nvSpPr>
        <p:spPr>
          <a:xfrm>
            <a:off x="8358988" y="3017520"/>
            <a:ext cx="2971800" cy="594360"/>
          </a:xfrm>
          <a:prstGeom prst="rect">
            <a:avLst/>
          </a:prstGeom>
          <a:noFill/>
          <a:ln/>
        </p:spPr>
        <p:txBody>
          <a:bodyPr wrap="square" lIns="0" tIns="0" rIns="0" bIns="0" rtlCol="0" anchor="ctr"/>
          <a:lstStyle/>
          <a:p>
            <a:pPr marL="0" indent="0" algn="ctr">
              <a:lnSpc>
                <a:spcPct val="110000"/>
              </a:lnSpc>
              <a:buNone/>
            </a:pPr>
            <a:r>
              <a:rPr lang="en-US" sz="980" dirty="0">
                <a:solidFill>
                  <a:srgbClr val="5A6B7B"/>
                </a:solidFill>
                <a:latin typeface="Calibri" pitchFamily="34" charset="0"/>
                <a:ea typeface="Calibri" pitchFamily="34" charset="-122"/>
                <a:cs typeface="Calibri" pitchFamily="34" charset="-120"/>
              </a:rPr>
              <a:t>Visualizing how values are spread across the patient population.</a:t>
            </a:r>
            <a:endParaRPr lang="en-US" sz="980" dirty="0"/>
          </a:p>
        </p:txBody>
      </p:sp>
      <p:sp>
        <p:nvSpPr>
          <p:cNvPr id="19" name="Shape 14"/>
          <p:cNvSpPr/>
          <p:nvPr/>
        </p:nvSpPr>
        <p:spPr>
          <a:xfrm>
            <a:off x="586588" y="3931920"/>
            <a:ext cx="3520440" cy="1965960"/>
          </a:xfrm>
          <a:prstGeom prst="roundRect">
            <a:avLst>
              <a:gd name="adj" fmla="val 3721"/>
            </a:avLst>
          </a:prstGeom>
          <a:solidFill>
            <a:srgbClr val="FFFFFF"/>
          </a:solidFill>
          <a:ln/>
          <a:effectLst>
            <a:outerShdw blurRad="101600" dist="38100" dir="2700000" algn="bl" rotWithShape="0">
              <a:srgbClr val="0B1F3A">
                <a:alpha val="12000"/>
              </a:srgbClr>
            </a:outerShdw>
          </a:effectLst>
        </p:spPr>
      </p:sp>
      <p:sp>
        <p:nvSpPr>
          <p:cNvPr id="20" name="Shape 15"/>
          <p:cNvSpPr/>
          <p:nvPr/>
        </p:nvSpPr>
        <p:spPr>
          <a:xfrm>
            <a:off x="2045056" y="4160520"/>
            <a:ext cx="603504" cy="603504"/>
          </a:xfrm>
          <a:prstGeom prst="ellipse">
            <a:avLst/>
          </a:prstGeom>
          <a:solidFill>
            <a:srgbClr val="0B1F3A"/>
          </a:solidFill>
          <a:ln/>
        </p:spPr>
      </p:sp>
      <p:pic>
        <p:nvPicPr>
          <p:cNvPr id="21" name="Image 3" descr="preencoded.png"/>
          <p:cNvPicPr>
            <a:picLocks noChangeAspect="1"/>
          </p:cNvPicPr>
          <p:nvPr/>
        </p:nvPicPr>
        <p:blipFill>
          <a:blip r:embed="rId6"/>
          <a:stretch>
            <a:fillRect/>
          </a:stretch>
        </p:blipFill>
        <p:spPr>
          <a:xfrm>
            <a:off x="2195932" y="4311396"/>
            <a:ext cx="301752" cy="301752"/>
          </a:xfrm>
          <a:prstGeom prst="rect">
            <a:avLst/>
          </a:prstGeom>
        </p:spPr>
      </p:pic>
      <p:sp>
        <p:nvSpPr>
          <p:cNvPr id="22" name="Text 16"/>
          <p:cNvSpPr/>
          <p:nvPr/>
        </p:nvSpPr>
        <p:spPr>
          <a:xfrm>
            <a:off x="815188" y="4892040"/>
            <a:ext cx="3063240" cy="36576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Outlier Detection</a:t>
            </a:r>
            <a:endParaRPr lang="en-US" sz="1300" dirty="0"/>
          </a:p>
        </p:txBody>
      </p:sp>
      <p:sp>
        <p:nvSpPr>
          <p:cNvPr id="23" name="Text 17"/>
          <p:cNvSpPr/>
          <p:nvPr/>
        </p:nvSpPr>
        <p:spPr>
          <a:xfrm>
            <a:off x="860908" y="5257800"/>
            <a:ext cx="2971800" cy="594360"/>
          </a:xfrm>
          <a:prstGeom prst="rect">
            <a:avLst/>
          </a:prstGeom>
          <a:noFill/>
          <a:ln/>
        </p:spPr>
        <p:txBody>
          <a:bodyPr wrap="square" lIns="0" tIns="0" rIns="0" bIns="0" rtlCol="0" anchor="ctr"/>
          <a:lstStyle/>
          <a:p>
            <a:pPr marL="0" indent="0" algn="ctr">
              <a:lnSpc>
                <a:spcPct val="110000"/>
              </a:lnSpc>
              <a:buNone/>
            </a:pPr>
            <a:r>
              <a:rPr lang="en-US" sz="980" dirty="0">
                <a:solidFill>
                  <a:srgbClr val="5A6B7B"/>
                </a:solidFill>
                <a:latin typeface="Calibri" pitchFamily="34" charset="0"/>
                <a:ea typeface="Calibri" pitchFamily="34" charset="-122"/>
                <a:cs typeface="Calibri" pitchFamily="34" charset="-120"/>
              </a:rPr>
              <a:t>Identifying unusual values that may indicate data issues or genuine extremes.</a:t>
            </a:r>
            <a:endParaRPr lang="en-US" sz="980" dirty="0"/>
          </a:p>
        </p:txBody>
      </p:sp>
      <p:sp>
        <p:nvSpPr>
          <p:cNvPr id="24" name="Shape 18"/>
          <p:cNvSpPr/>
          <p:nvPr/>
        </p:nvSpPr>
        <p:spPr>
          <a:xfrm>
            <a:off x="4335628" y="3931920"/>
            <a:ext cx="3520440" cy="1965960"/>
          </a:xfrm>
          <a:prstGeom prst="roundRect">
            <a:avLst>
              <a:gd name="adj" fmla="val 3721"/>
            </a:avLst>
          </a:prstGeom>
          <a:solidFill>
            <a:srgbClr val="FFFFFF"/>
          </a:solidFill>
          <a:ln/>
          <a:effectLst>
            <a:outerShdw blurRad="101600" dist="38100" dir="2700000" algn="bl" rotWithShape="0">
              <a:srgbClr val="0B1F3A">
                <a:alpha val="12000"/>
              </a:srgbClr>
            </a:outerShdw>
          </a:effectLst>
        </p:spPr>
      </p:sp>
      <p:sp>
        <p:nvSpPr>
          <p:cNvPr id="25" name="Shape 19"/>
          <p:cNvSpPr/>
          <p:nvPr/>
        </p:nvSpPr>
        <p:spPr>
          <a:xfrm>
            <a:off x="5794096" y="4160520"/>
            <a:ext cx="603504" cy="603504"/>
          </a:xfrm>
          <a:prstGeom prst="ellipse">
            <a:avLst/>
          </a:prstGeom>
          <a:solidFill>
            <a:srgbClr val="0B1F3A"/>
          </a:solidFill>
          <a:ln/>
        </p:spPr>
      </p:sp>
      <p:pic>
        <p:nvPicPr>
          <p:cNvPr id="26" name="Image 4" descr="preencoded.png"/>
          <p:cNvPicPr>
            <a:picLocks noChangeAspect="1"/>
          </p:cNvPicPr>
          <p:nvPr/>
        </p:nvPicPr>
        <p:blipFill>
          <a:blip r:embed="rId7"/>
          <a:stretch>
            <a:fillRect/>
          </a:stretch>
        </p:blipFill>
        <p:spPr>
          <a:xfrm>
            <a:off x="5944972" y="4311396"/>
            <a:ext cx="301752" cy="301752"/>
          </a:xfrm>
          <a:prstGeom prst="rect">
            <a:avLst/>
          </a:prstGeom>
        </p:spPr>
      </p:pic>
      <p:sp>
        <p:nvSpPr>
          <p:cNvPr id="27" name="Text 20"/>
          <p:cNvSpPr/>
          <p:nvPr/>
        </p:nvSpPr>
        <p:spPr>
          <a:xfrm>
            <a:off x="4564228" y="4892040"/>
            <a:ext cx="3063240" cy="36576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Correlation Analysis</a:t>
            </a:r>
            <a:endParaRPr lang="en-US" sz="1300" dirty="0"/>
          </a:p>
        </p:txBody>
      </p:sp>
      <p:sp>
        <p:nvSpPr>
          <p:cNvPr id="28" name="Text 21"/>
          <p:cNvSpPr/>
          <p:nvPr/>
        </p:nvSpPr>
        <p:spPr>
          <a:xfrm>
            <a:off x="4609948" y="5257800"/>
            <a:ext cx="2971800" cy="594360"/>
          </a:xfrm>
          <a:prstGeom prst="rect">
            <a:avLst/>
          </a:prstGeom>
          <a:noFill/>
          <a:ln/>
        </p:spPr>
        <p:txBody>
          <a:bodyPr wrap="square" lIns="0" tIns="0" rIns="0" bIns="0" rtlCol="0" anchor="ctr"/>
          <a:lstStyle/>
          <a:p>
            <a:pPr marL="0" indent="0" algn="ctr">
              <a:lnSpc>
                <a:spcPct val="110000"/>
              </a:lnSpc>
              <a:buNone/>
            </a:pPr>
            <a:r>
              <a:rPr lang="en-US" sz="980" dirty="0">
                <a:solidFill>
                  <a:srgbClr val="5A6B7B"/>
                </a:solidFill>
                <a:latin typeface="Calibri" pitchFamily="34" charset="0"/>
                <a:ea typeface="Calibri" pitchFamily="34" charset="-122"/>
                <a:cs typeface="Calibri" pitchFamily="34" charset="-120"/>
              </a:rPr>
              <a:t>Measuring the strength of relationships between numeric clinical features.</a:t>
            </a:r>
            <a:endParaRPr lang="en-US" sz="980" dirty="0"/>
          </a:p>
        </p:txBody>
      </p:sp>
      <p:sp>
        <p:nvSpPr>
          <p:cNvPr id="29" name="Shape 22"/>
          <p:cNvSpPr/>
          <p:nvPr/>
        </p:nvSpPr>
        <p:spPr>
          <a:xfrm>
            <a:off x="8084668" y="3931920"/>
            <a:ext cx="3520440" cy="1965960"/>
          </a:xfrm>
          <a:prstGeom prst="roundRect">
            <a:avLst>
              <a:gd name="adj" fmla="val 3721"/>
            </a:avLst>
          </a:prstGeom>
          <a:solidFill>
            <a:srgbClr val="FFFFFF"/>
          </a:solidFill>
          <a:ln/>
          <a:effectLst>
            <a:outerShdw blurRad="101600" dist="38100" dir="2700000" algn="bl" rotWithShape="0">
              <a:srgbClr val="0B1F3A">
                <a:alpha val="12000"/>
              </a:srgbClr>
            </a:outerShdw>
          </a:effectLst>
        </p:spPr>
      </p:sp>
      <p:sp>
        <p:nvSpPr>
          <p:cNvPr id="30" name="Shape 23"/>
          <p:cNvSpPr/>
          <p:nvPr/>
        </p:nvSpPr>
        <p:spPr>
          <a:xfrm>
            <a:off x="9543136" y="4160520"/>
            <a:ext cx="603504" cy="603504"/>
          </a:xfrm>
          <a:prstGeom prst="ellipse">
            <a:avLst/>
          </a:prstGeom>
          <a:solidFill>
            <a:srgbClr val="0B1F3A"/>
          </a:solidFill>
          <a:ln/>
        </p:spPr>
      </p:sp>
      <p:pic>
        <p:nvPicPr>
          <p:cNvPr id="31" name="Image 5" descr="preencoded.png"/>
          <p:cNvPicPr>
            <a:picLocks noChangeAspect="1"/>
          </p:cNvPicPr>
          <p:nvPr/>
        </p:nvPicPr>
        <p:blipFill>
          <a:blip r:embed="rId8"/>
          <a:stretch>
            <a:fillRect/>
          </a:stretch>
        </p:blipFill>
        <p:spPr>
          <a:xfrm>
            <a:off x="9694012" y="4311396"/>
            <a:ext cx="301752" cy="301752"/>
          </a:xfrm>
          <a:prstGeom prst="rect">
            <a:avLst/>
          </a:prstGeom>
        </p:spPr>
      </p:pic>
      <p:sp>
        <p:nvSpPr>
          <p:cNvPr id="32" name="Text 24"/>
          <p:cNvSpPr/>
          <p:nvPr/>
        </p:nvSpPr>
        <p:spPr>
          <a:xfrm>
            <a:off x="8313268" y="4892040"/>
            <a:ext cx="3063240" cy="36576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Comparative Analysis</a:t>
            </a:r>
            <a:endParaRPr lang="en-US" sz="1300" dirty="0"/>
          </a:p>
        </p:txBody>
      </p:sp>
      <p:sp>
        <p:nvSpPr>
          <p:cNvPr id="33" name="Text 25"/>
          <p:cNvSpPr/>
          <p:nvPr/>
        </p:nvSpPr>
        <p:spPr>
          <a:xfrm>
            <a:off x="8358988" y="5257800"/>
            <a:ext cx="2971800" cy="594360"/>
          </a:xfrm>
          <a:prstGeom prst="rect">
            <a:avLst/>
          </a:prstGeom>
          <a:noFill/>
          <a:ln/>
        </p:spPr>
        <p:txBody>
          <a:bodyPr wrap="square" lIns="0" tIns="0" rIns="0" bIns="0" rtlCol="0" anchor="ctr"/>
          <a:lstStyle/>
          <a:p>
            <a:pPr marL="0" indent="0" algn="ctr">
              <a:lnSpc>
                <a:spcPct val="110000"/>
              </a:lnSpc>
              <a:buNone/>
            </a:pPr>
            <a:r>
              <a:rPr lang="en-US" sz="980" dirty="0">
                <a:solidFill>
                  <a:srgbClr val="5A6B7B"/>
                </a:solidFill>
                <a:latin typeface="Calibri" pitchFamily="34" charset="0"/>
                <a:ea typeface="Calibri" pitchFamily="34" charset="-122"/>
                <a:cs typeface="Calibri" pitchFamily="34" charset="-120"/>
              </a:rPr>
              <a:t>Comparing feature patterns across groups, such as by sex or diagnosis.</a:t>
            </a:r>
            <a:endParaRPr lang="en-US" sz="980" dirty="0"/>
          </a:p>
        </p:txBody>
      </p:sp>
      <p:sp>
        <p:nvSpPr>
          <p:cNvPr id="34" name="Text 2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35" name="Text 2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AGE &amp; GENDER ANALYSIS</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Demographic Patterns in the Dataset</a:t>
            </a:r>
            <a:endParaRPr lang="en-US" sz="3200" dirty="0"/>
          </a:p>
        </p:txBody>
      </p:sp>
      <p:sp>
        <p:nvSpPr>
          <p:cNvPr id="4" name="Shape 2"/>
          <p:cNvSpPr/>
          <p:nvPr/>
        </p:nvSpPr>
        <p:spPr>
          <a:xfrm>
            <a:off x="1664214" y="2089404"/>
            <a:ext cx="3454298" cy="2190404"/>
          </a:xfrm>
          <a:prstGeom prst="roundRect">
            <a:avLst>
              <a:gd name="adj" fmla="val 1967"/>
            </a:avLst>
          </a:prstGeom>
          <a:solidFill>
            <a:srgbClr val="F4F7F9"/>
          </a:solidFill>
          <a:ln w="19050">
            <a:solidFill>
              <a:srgbClr val="E2E8EE"/>
            </a:solidFill>
            <a:prstDash val="dash"/>
          </a:ln>
        </p:spPr>
      </p:sp>
      <p:pic>
        <p:nvPicPr>
          <p:cNvPr id="5" name="Image 0" descr="preencoded.png"/>
          <p:cNvPicPr>
            <a:picLocks noChangeAspect="1"/>
          </p:cNvPicPr>
          <p:nvPr/>
        </p:nvPicPr>
        <p:blipFill>
          <a:blip r:embed="rId3"/>
          <a:stretch>
            <a:fillRect/>
          </a:stretch>
        </p:blipFill>
        <p:spPr>
          <a:xfrm>
            <a:off x="2994660" y="2537460"/>
            <a:ext cx="548640" cy="548640"/>
          </a:xfrm>
          <a:prstGeom prst="rect">
            <a:avLst/>
          </a:prstGeom>
        </p:spPr>
      </p:pic>
      <p:sp>
        <p:nvSpPr>
          <p:cNvPr id="6" name="Text 3"/>
          <p:cNvSpPr/>
          <p:nvPr/>
        </p:nvSpPr>
        <p:spPr>
          <a:xfrm>
            <a:off x="822960" y="3113532"/>
            <a:ext cx="489204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Age Distribution Histogram Here ]</a:t>
            </a:r>
            <a:endParaRPr lang="en-US" sz="1250" dirty="0"/>
          </a:p>
        </p:txBody>
      </p:sp>
      <p:sp>
        <p:nvSpPr>
          <p:cNvPr id="7" name="Text 4"/>
          <p:cNvSpPr/>
          <p:nvPr/>
        </p:nvSpPr>
        <p:spPr>
          <a:xfrm>
            <a:off x="822960" y="3461004"/>
            <a:ext cx="489204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Shows spread of patient ages</a:t>
            </a:r>
            <a:endParaRPr lang="en-US" sz="950" dirty="0"/>
          </a:p>
        </p:txBody>
      </p:sp>
      <p:sp>
        <p:nvSpPr>
          <p:cNvPr id="8" name="Shape 5"/>
          <p:cNvSpPr/>
          <p:nvPr/>
        </p:nvSpPr>
        <p:spPr>
          <a:xfrm>
            <a:off x="7656022" y="1963465"/>
            <a:ext cx="3109790" cy="2388247"/>
          </a:xfrm>
          <a:prstGeom prst="roundRect">
            <a:avLst>
              <a:gd name="adj" fmla="val 1967"/>
            </a:avLst>
          </a:prstGeom>
          <a:solidFill>
            <a:srgbClr val="F4F7F9"/>
          </a:solidFill>
          <a:ln w="19050">
            <a:solidFill>
              <a:srgbClr val="E2E8EE"/>
            </a:solidFill>
            <a:prstDash val="dash"/>
          </a:ln>
        </p:spPr>
      </p:sp>
      <p:pic>
        <p:nvPicPr>
          <p:cNvPr id="9" name="Image 1" descr="preencoded.png"/>
          <p:cNvPicPr>
            <a:picLocks noChangeAspect="1"/>
          </p:cNvPicPr>
          <p:nvPr/>
        </p:nvPicPr>
        <p:blipFill>
          <a:blip r:embed="rId3"/>
          <a:stretch>
            <a:fillRect/>
          </a:stretch>
        </p:blipFill>
        <p:spPr>
          <a:xfrm>
            <a:off x="8645652" y="2537460"/>
            <a:ext cx="548640" cy="548640"/>
          </a:xfrm>
          <a:prstGeom prst="rect">
            <a:avLst/>
          </a:prstGeom>
        </p:spPr>
      </p:pic>
      <p:sp>
        <p:nvSpPr>
          <p:cNvPr id="10" name="Text 6"/>
          <p:cNvSpPr/>
          <p:nvPr/>
        </p:nvSpPr>
        <p:spPr>
          <a:xfrm>
            <a:off x="6473952" y="3113532"/>
            <a:ext cx="489204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Gender Distribution Chart Here ]</a:t>
            </a:r>
            <a:endParaRPr lang="en-US" sz="1250" dirty="0"/>
          </a:p>
        </p:txBody>
      </p:sp>
      <p:sp>
        <p:nvSpPr>
          <p:cNvPr id="11" name="Text 7"/>
          <p:cNvSpPr/>
          <p:nvPr/>
        </p:nvSpPr>
        <p:spPr>
          <a:xfrm>
            <a:off x="6473952" y="3461004"/>
            <a:ext cx="489204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Shows male vs. female proportion</a:t>
            </a:r>
            <a:endParaRPr lang="en-US" sz="950" dirty="0"/>
          </a:p>
        </p:txBody>
      </p:sp>
      <p:sp>
        <p:nvSpPr>
          <p:cNvPr id="12" name="Shape 8"/>
          <p:cNvSpPr/>
          <p:nvPr/>
        </p:nvSpPr>
        <p:spPr>
          <a:xfrm>
            <a:off x="548640" y="4709160"/>
            <a:ext cx="420624" cy="420624"/>
          </a:xfrm>
          <a:prstGeom prst="ellipse">
            <a:avLst/>
          </a:prstGeom>
          <a:solidFill>
            <a:srgbClr val="EEF4F7"/>
          </a:solidFill>
          <a:ln/>
        </p:spPr>
      </p:sp>
      <p:pic>
        <p:nvPicPr>
          <p:cNvPr id="13" name="Image 2" descr="preencoded.png"/>
          <p:cNvPicPr>
            <a:picLocks noChangeAspect="1"/>
          </p:cNvPicPr>
          <p:nvPr/>
        </p:nvPicPr>
        <p:blipFill>
          <a:blip r:embed="rId4"/>
          <a:stretch>
            <a:fillRect/>
          </a:stretch>
        </p:blipFill>
        <p:spPr>
          <a:xfrm>
            <a:off x="643280" y="4803800"/>
            <a:ext cx="231343" cy="231343"/>
          </a:xfrm>
          <a:prstGeom prst="rect">
            <a:avLst/>
          </a:prstGeom>
        </p:spPr>
      </p:pic>
      <p:sp>
        <p:nvSpPr>
          <p:cNvPr id="14" name="Text 9"/>
          <p:cNvSpPr/>
          <p:nvPr/>
        </p:nvSpPr>
        <p:spPr>
          <a:xfrm>
            <a:off x="1115568"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Why Age Matters</a:t>
            </a:r>
            <a:endParaRPr lang="en-US" sz="1200" dirty="0"/>
          </a:p>
        </p:txBody>
      </p:sp>
      <p:sp>
        <p:nvSpPr>
          <p:cNvPr id="15" name="Text 10"/>
          <p:cNvSpPr/>
          <p:nvPr/>
        </p:nvSpPr>
        <p:spPr>
          <a:xfrm>
            <a:off x="548640"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Age is a well-established factor in cardiovascular risk profiles and a natural starting point for exploration.</a:t>
            </a:r>
            <a:endParaRPr lang="en-US" sz="980" dirty="0"/>
          </a:p>
        </p:txBody>
      </p:sp>
      <p:sp>
        <p:nvSpPr>
          <p:cNvPr id="16" name="Shape 11"/>
          <p:cNvSpPr/>
          <p:nvPr/>
        </p:nvSpPr>
        <p:spPr>
          <a:xfrm>
            <a:off x="4368698" y="4709160"/>
            <a:ext cx="420624" cy="420624"/>
          </a:xfrm>
          <a:prstGeom prst="ellipse">
            <a:avLst/>
          </a:prstGeom>
          <a:solidFill>
            <a:srgbClr val="EEF4F7"/>
          </a:solidFill>
          <a:ln/>
        </p:spPr>
      </p:sp>
      <p:pic>
        <p:nvPicPr>
          <p:cNvPr id="17" name="Image 3" descr="preencoded.png"/>
          <p:cNvPicPr>
            <a:picLocks noChangeAspect="1"/>
          </p:cNvPicPr>
          <p:nvPr/>
        </p:nvPicPr>
        <p:blipFill>
          <a:blip r:embed="rId5"/>
          <a:stretch>
            <a:fillRect/>
          </a:stretch>
        </p:blipFill>
        <p:spPr>
          <a:xfrm>
            <a:off x="4463339" y="4803800"/>
            <a:ext cx="231343" cy="231343"/>
          </a:xfrm>
          <a:prstGeom prst="rect">
            <a:avLst/>
          </a:prstGeom>
        </p:spPr>
      </p:pic>
      <p:sp>
        <p:nvSpPr>
          <p:cNvPr id="18" name="Text 12"/>
          <p:cNvSpPr/>
          <p:nvPr/>
        </p:nvSpPr>
        <p:spPr>
          <a:xfrm>
            <a:off x="4935626"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Gender Differences</a:t>
            </a:r>
            <a:endParaRPr lang="en-US" sz="1200" dirty="0"/>
          </a:p>
        </p:txBody>
      </p:sp>
      <p:sp>
        <p:nvSpPr>
          <p:cNvPr id="19" name="Text 13"/>
          <p:cNvSpPr/>
          <p:nvPr/>
        </p:nvSpPr>
        <p:spPr>
          <a:xfrm>
            <a:off x="4368698"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Reviewing the male-to-female split helps contextualize whether observed patterns are consistent or vary by sex.</a:t>
            </a:r>
            <a:endParaRPr lang="en-US" sz="980" dirty="0"/>
          </a:p>
        </p:txBody>
      </p:sp>
      <p:sp>
        <p:nvSpPr>
          <p:cNvPr id="20" name="Shape 14"/>
          <p:cNvSpPr/>
          <p:nvPr/>
        </p:nvSpPr>
        <p:spPr>
          <a:xfrm>
            <a:off x="8188757" y="4709160"/>
            <a:ext cx="420624" cy="420624"/>
          </a:xfrm>
          <a:prstGeom prst="ellipse">
            <a:avLst/>
          </a:prstGeom>
          <a:solidFill>
            <a:srgbClr val="EEF4F7"/>
          </a:solidFill>
          <a:ln/>
        </p:spPr>
      </p:sp>
      <p:pic>
        <p:nvPicPr>
          <p:cNvPr id="21" name="Image 4" descr="preencoded.png"/>
          <p:cNvPicPr>
            <a:picLocks noChangeAspect="1"/>
          </p:cNvPicPr>
          <p:nvPr/>
        </p:nvPicPr>
        <p:blipFill>
          <a:blip r:embed="rId6"/>
          <a:stretch>
            <a:fillRect/>
          </a:stretch>
        </p:blipFill>
        <p:spPr>
          <a:xfrm>
            <a:off x="8283397" y="4803800"/>
            <a:ext cx="231343" cy="231343"/>
          </a:xfrm>
          <a:prstGeom prst="rect">
            <a:avLst/>
          </a:prstGeom>
        </p:spPr>
      </p:pic>
      <p:sp>
        <p:nvSpPr>
          <p:cNvPr id="22" name="Text 15"/>
          <p:cNvSpPr/>
          <p:nvPr/>
        </p:nvSpPr>
        <p:spPr>
          <a:xfrm>
            <a:off x="8755685"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Interpretation Methodology</a:t>
            </a:r>
            <a:endParaRPr lang="en-US" sz="1200" dirty="0"/>
          </a:p>
        </p:txBody>
      </p:sp>
      <p:sp>
        <p:nvSpPr>
          <p:cNvPr id="23" name="Text 16"/>
          <p:cNvSpPr/>
          <p:nvPr/>
        </p:nvSpPr>
        <p:spPr>
          <a:xfrm>
            <a:off x="8188757"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Histograms and count plots are read for shape, spread, and central tendency — not used to draw causal conclusions.</a:t>
            </a:r>
            <a:endParaRPr lang="en-US" sz="980" dirty="0"/>
          </a:p>
        </p:txBody>
      </p:sp>
      <p:sp>
        <p:nvSpPr>
          <p:cNvPr id="24"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5" name="Text 1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08</a:t>
            </a:r>
            <a:endParaRPr lang="en-US" sz="900" dirty="0"/>
          </a:p>
        </p:txBody>
      </p:sp>
      <p:pic>
        <p:nvPicPr>
          <p:cNvPr id="26" name="Picture 25"/>
          <p:cNvPicPr>
            <a:picLocks noChangeAspect="1"/>
          </p:cNvPicPr>
          <p:nvPr/>
        </p:nvPicPr>
        <p:blipFill>
          <a:blip r:embed="rId7"/>
          <a:stretch>
            <a:fillRect/>
          </a:stretch>
        </p:blipFill>
        <p:spPr>
          <a:xfrm>
            <a:off x="7217370" y="1648949"/>
            <a:ext cx="4036139" cy="2947282"/>
          </a:xfrm>
          <a:prstGeom prst="rect">
            <a:avLst/>
          </a:prstGeom>
        </p:spPr>
      </p:pic>
      <p:pic>
        <p:nvPicPr>
          <p:cNvPr id="27" name="Picture 26"/>
          <p:cNvPicPr>
            <a:picLocks noChangeAspect="1"/>
          </p:cNvPicPr>
          <p:nvPr/>
        </p:nvPicPr>
        <p:blipFill>
          <a:blip r:embed="rId8"/>
          <a:stretch>
            <a:fillRect/>
          </a:stretch>
        </p:blipFill>
        <p:spPr>
          <a:xfrm>
            <a:off x="1139932" y="1684919"/>
            <a:ext cx="4303815" cy="29282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CHOLESTEROL &amp; BLOOD PRESSURE ANALYSIS</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Examining Two Key Clinical Markers</a:t>
            </a:r>
            <a:endParaRPr lang="en-US" sz="3200" dirty="0"/>
          </a:p>
        </p:txBody>
      </p:sp>
      <p:sp>
        <p:nvSpPr>
          <p:cNvPr id="4" name="Shape 2"/>
          <p:cNvSpPr/>
          <p:nvPr/>
        </p:nvSpPr>
        <p:spPr>
          <a:xfrm>
            <a:off x="1115568" y="2065669"/>
            <a:ext cx="3695833" cy="1923401"/>
          </a:xfrm>
          <a:prstGeom prst="roundRect">
            <a:avLst>
              <a:gd name="adj" fmla="val 1967"/>
            </a:avLst>
          </a:prstGeom>
          <a:solidFill>
            <a:srgbClr val="F4F7F9"/>
          </a:solidFill>
          <a:ln w="19050">
            <a:solidFill>
              <a:srgbClr val="E2E8EE"/>
            </a:solidFill>
            <a:prstDash val="dash"/>
          </a:ln>
        </p:spPr>
      </p:sp>
      <p:pic>
        <p:nvPicPr>
          <p:cNvPr id="5" name="Image 0" descr="preencoded.png"/>
          <p:cNvPicPr>
            <a:picLocks noChangeAspect="1"/>
          </p:cNvPicPr>
          <p:nvPr/>
        </p:nvPicPr>
        <p:blipFill>
          <a:blip r:embed="rId3"/>
          <a:stretch>
            <a:fillRect/>
          </a:stretch>
        </p:blipFill>
        <p:spPr>
          <a:xfrm>
            <a:off x="2994660" y="2537460"/>
            <a:ext cx="548640" cy="548640"/>
          </a:xfrm>
          <a:prstGeom prst="rect">
            <a:avLst/>
          </a:prstGeom>
        </p:spPr>
      </p:pic>
      <p:sp>
        <p:nvSpPr>
          <p:cNvPr id="6" name="Text 3"/>
          <p:cNvSpPr/>
          <p:nvPr/>
        </p:nvSpPr>
        <p:spPr>
          <a:xfrm>
            <a:off x="822960" y="3113532"/>
            <a:ext cx="489204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Cholesterol Box Plot Here ]</a:t>
            </a:r>
            <a:endParaRPr lang="en-US" sz="1250" dirty="0"/>
          </a:p>
        </p:txBody>
      </p:sp>
      <p:sp>
        <p:nvSpPr>
          <p:cNvPr id="7" name="Text 4"/>
          <p:cNvSpPr/>
          <p:nvPr/>
        </p:nvSpPr>
        <p:spPr>
          <a:xfrm>
            <a:off x="822960" y="3461004"/>
            <a:ext cx="489204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Highlights spread and potential outliers</a:t>
            </a:r>
            <a:endParaRPr lang="en-US" sz="950" dirty="0"/>
          </a:p>
        </p:txBody>
      </p:sp>
      <p:sp>
        <p:nvSpPr>
          <p:cNvPr id="8" name="Shape 5"/>
          <p:cNvSpPr/>
          <p:nvPr/>
        </p:nvSpPr>
        <p:spPr>
          <a:xfrm>
            <a:off x="6945113" y="1872234"/>
            <a:ext cx="3418501" cy="1833372"/>
          </a:xfrm>
          <a:prstGeom prst="roundRect">
            <a:avLst>
              <a:gd name="adj" fmla="val 1967"/>
            </a:avLst>
          </a:prstGeom>
          <a:solidFill>
            <a:srgbClr val="F4F7F9"/>
          </a:solidFill>
          <a:ln w="19050">
            <a:solidFill>
              <a:srgbClr val="E2E8EE"/>
            </a:solidFill>
            <a:prstDash val="dash"/>
          </a:ln>
        </p:spPr>
      </p:sp>
      <p:pic>
        <p:nvPicPr>
          <p:cNvPr id="9" name="Image 1" descr="preencoded.png"/>
          <p:cNvPicPr>
            <a:picLocks noChangeAspect="1"/>
          </p:cNvPicPr>
          <p:nvPr/>
        </p:nvPicPr>
        <p:blipFill>
          <a:blip r:embed="rId3"/>
          <a:stretch>
            <a:fillRect/>
          </a:stretch>
        </p:blipFill>
        <p:spPr>
          <a:xfrm>
            <a:off x="9554125" y="2903220"/>
            <a:ext cx="548640" cy="548640"/>
          </a:xfrm>
          <a:prstGeom prst="rect">
            <a:avLst/>
          </a:prstGeom>
        </p:spPr>
      </p:pic>
      <p:sp>
        <p:nvSpPr>
          <p:cNvPr id="10" name="Text 6"/>
          <p:cNvSpPr/>
          <p:nvPr/>
        </p:nvSpPr>
        <p:spPr>
          <a:xfrm>
            <a:off x="6473952" y="3113532"/>
            <a:ext cx="489204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Blood Pressure Visualization Here ]</a:t>
            </a:r>
            <a:endParaRPr lang="en-US" sz="1250" dirty="0"/>
          </a:p>
        </p:txBody>
      </p:sp>
      <p:sp>
        <p:nvSpPr>
          <p:cNvPr id="11" name="Text 7"/>
          <p:cNvSpPr/>
          <p:nvPr/>
        </p:nvSpPr>
        <p:spPr>
          <a:xfrm>
            <a:off x="6473952" y="3461004"/>
            <a:ext cx="489204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Resting blood pressure distribution</a:t>
            </a:r>
            <a:endParaRPr lang="en-US" sz="950" dirty="0"/>
          </a:p>
        </p:txBody>
      </p:sp>
      <p:sp>
        <p:nvSpPr>
          <p:cNvPr id="12" name="Shape 8"/>
          <p:cNvSpPr/>
          <p:nvPr/>
        </p:nvSpPr>
        <p:spPr>
          <a:xfrm>
            <a:off x="548640" y="4709160"/>
            <a:ext cx="420624" cy="420624"/>
          </a:xfrm>
          <a:prstGeom prst="ellipse">
            <a:avLst/>
          </a:prstGeom>
          <a:solidFill>
            <a:srgbClr val="FFFFFF"/>
          </a:solidFill>
          <a:ln/>
        </p:spPr>
      </p:sp>
      <p:pic>
        <p:nvPicPr>
          <p:cNvPr id="13" name="Image 2" descr="preencoded.png"/>
          <p:cNvPicPr>
            <a:picLocks noChangeAspect="1"/>
          </p:cNvPicPr>
          <p:nvPr/>
        </p:nvPicPr>
        <p:blipFill>
          <a:blip r:embed="rId4"/>
          <a:stretch>
            <a:fillRect/>
          </a:stretch>
        </p:blipFill>
        <p:spPr>
          <a:xfrm>
            <a:off x="643280" y="4803800"/>
            <a:ext cx="231343" cy="231343"/>
          </a:xfrm>
          <a:prstGeom prst="rect">
            <a:avLst/>
          </a:prstGeom>
        </p:spPr>
      </p:pic>
      <p:sp>
        <p:nvSpPr>
          <p:cNvPr id="14" name="Text 9"/>
          <p:cNvSpPr/>
          <p:nvPr/>
        </p:nvSpPr>
        <p:spPr>
          <a:xfrm>
            <a:off x="1115568"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Medical Significance</a:t>
            </a:r>
            <a:endParaRPr lang="en-US" sz="1200" dirty="0"/>
          </a:p>
        </p:txBody>
      </p:sp>
      <p:sp>
        <p:nvSpPr>
          <p:cNvPr id="15" name="Text 10"/>
          <p:cNvSpPr/>
          <p:nvPr/>
        </p:nvSpPr>
        <p:spPr>
          <a:xfrm>
            <a:off x="548640"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Cholesterol and blood pressure are two of the most clinically monitored cardiovascular risk markers.</a:t>
            </a:r>
            <a:endParaRPr lang="en-US" sz="980" dirty="0"/>
          </a:p>
        </p:txBody>
      </p:sp>
      <p:sp>
        <p:nvSpPr>
          <p:cNvPr id="16" name="Shape 11"/>
          <p:cNvSpPr/>
          <p:nvPr/>
        </p:nvSpPr>
        <p:spPr>
          <a:xfrm>
            <a:off x="4368698" y="4709160"/>
            <a:ext cx="420624" cy="420624"/>
          </a:xfrm>
          <a:prstGeom prst="ellipse">
            <a:avLst/>
          </a:prstGeom>
          <a:solidFill>
            <a:srgbClr val="FFFFFF"/>
          </a:solidFill>
          <a:ln/>
        </p:spPr>
      </p:sp>
      <p:pic>
        <p:nvPicPr>
          <p:cNvPr id="17" name="Image 3" descr="preencoded.png"/>
          <p:cNvPicPr>
            <a:picLocks noChangeAspect="1"/>
          </p:cNvPicPr>
          <p:nvPr/>
        </p:nvPicPr>
        <p:blipFill>
          <a:blip r:embed="rId5"/>
          <a:stretch>
            <a:fillRect/>
          </a:stretch>
        </p:blipFill>
        <p:spPr>
          <a:xfrm>
            <a:off x="4463339" y="4803800"/>
            <a:ext cx="231343" cy="231343"/>
          </a:xfrm>
          <a:prstGeom prst="rect">
            <a:avLst/>
          </a:prstGeom>
        </p:spPr>
      </p:pic>
      <p:sp>
        <p:nvSpPr>
          <p:cNvPr id="18" name="Text 12"/>
          <p:cNvSpPr/>
          <p:nvPr/>
        </p:nvSpPr>
        <p:spPr>
          <a:xfrm>
            <a:off x="4935626"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Outlier Interpretation</a:t>
            </a:r>
            <a:endParaRPr lang="en-US" sz="1200" dirty="0"/>
          </a:p>
        </p:txBody>
      </p:sp>
      <p:sp>
        <p:nvSpPr>
          <p:cNvPr id="19" name="Text 13"/>
          <p:cNvSpPr/>
          <p:nvPr/>
        </p:nvSpPr>
        <p:spPr>
          <a:xfrm>
            <a:off x="4368698"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Extreme values are reviewed carefully — they may reflect real clinical cases rather than data errors.</a:t>
            </a:r>
            <a:endParaRPr lang="en-US" sz="980" dirty="0"/>
          </a:p>
        </p:txBody>
      </p:sp>
      <p:sp>
        <p:nvSpPr>
          <p:cNvPr id="20" name="Shape 14"/>
          <p:cNvSpPr/>
          <p:nvPr/>
        </p:nvSpPr>
        <p:spPr>
          <a:xfrm>
            <a:off x="8188757" y="4709160"/>
            <a:ext cx="420624" cy="420624"/>
          </a:xfrm>
          <a:prstGeom prst="ellipse">
            <a:avLst/>
          </a:prstGeom>
          <a:solidFill>
            <a:srgbClr val="FFFFFF"/>
          </a:solidFill>
          <a:ln/>
        </p:spPr>
      </p:sp>
      <p:pic>
        <p:nvPicPr>
          <p:cNvPr id="21" name="Image 4" descr="preencoded.png"/>
          <p:cNvPicPr>
            <a:picLocks noChangeAspect="1"/>
          </p:cNvPicPr>
          <p:nvPr/>
        </p:nvPicPr>
        <p:blipFill>
          <a:blip r:embed="rId6"/>
          <a:stretch>
            <a:fillRect/>
          </a:stretch>
        </p:blipFill>
        <p:spPr>
          <a:xfrm>
            <a:off x="8283397" y="4803800"/>
            <a:ext cx="231343" cy="231343"/>
          </a:xfrm>
          <a:prstGeom prst="rect">
            <a:avLst/>
          </a:prstGeom>
        </p:spPr>
      </p:pic>
      <p:sp>
        <p:nvSpPr>
          <p:cNvPr id="22" name="Text 15"/>
          <p:cNvSpPr/>
          <p:nvPr/>
        </p:nvSpPr>
        <p:spPr>
          <a:xfrm>
            <a:off x="8755685"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How EDA Helps</a:t>
            </a:r>
            <a:endParaRPr lang="en-US" sz="1200" dirty="0"/>
          </a:p>
        </p:txBody>
      </p:sp>
      <p:sp>
        <p:nvSpPr>
          <p:cNvPr id="23" name="Text 16"/>
          <p:cNvSpPr/>
          <p:nvPr/>
        </p:nvSpPr>
        <p:spPr>
          <a:xfrm>
            <a:off x="8188757"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Box plots reveal spread and skew at a glance, helping flag ranges that warrant clinical attention.</a:t>
            </a:r>
            <a:endParaRPr lang="en-US" sz="980" dirty="0"/>
          </a:p>
        </p:txBody>
      </p:sp>
      <p:sp>
        <p:nvSpPr>
          <p:cNvPr id="24"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5" name="Text 1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09</a:t>
            </a:r>
            <a:endParaRPr lang="en-US" sz="900" dirty="0"/>
          </a:p>
        </p:txBody>
      </p:sp>
      <p:pic>
        <p:nvPicPr>
          <p:cNvPr id="28" name="Picture 27"/>
          <p:cNvPicPr>
            <a:picLocks noChangeAspect="1"/>
          </p:cNvPicPr>
          <p:nvPr/>
        </p:nvPicPr>
        <p:blipFill>
          <a:blip r:embed="rId7"/>
          <a:stretch>
            <a:fillRect/>
          </a:stretch>
        </p:blipFill>
        <p:spPr>
          <a:xfrm>
            <a:off x="712188" y="1405890"/>
            <a:ext cx="4892745" cy="3082889"/>
          </a:xfrm>
          <a:prstGeom prst="rect">
            <a:avLst/>
          </a:prstGeom>
        </p:spPr>
      </p:pic>
      <p:pic>
        <p:nvPicPr>
          <p:cNvPr id="29" name="Picture 28"/>
          <p:cNvPicPr>
            <a:picLocks noChangeAspect="1"/>
          </p:cNvPicPr>
          <p:nvPr/>
        </p:nvPicPr>
        <p:blipFill rotWithShape="1">
          <a:blip r:embed="rId8"/>
          <a:srcRect l="984"/>
          <a:stretch/>
        </p:blipFill>
        <p:spPr>
          <a:xfrm>
            <a:off x="6690493" y="1399110"/>
            <a:ext cx="4952562" cy="31300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HEART RATE &amp; CHEST PAIN ANALYSIS</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Functional and Symptomatic Indicators</a:t>
            </a:r>
            <a:endParaRPr lang="en-US" sz="3200" dirty="0"/>
          </a:p>
        </p:txBody>
      </p:sp>
      <p:sp>
        <p:nvSpPr>
          <p:cNvPr id="4" name="Shape 2"/>
          <p:cNvSpPr/>
          <p:nvPr/>
        </p:nvSpPr>
        <p:spPr>
          <a:xfrm>
            <a:off x="969264" y="1995006"/>
            <a:ext cx="4386986" cy="2258568"/>
          </a:xfrm>
          <a:prstGeom prst="roundRect">
            <a:avLst>
              <a:gd name="adj" fmla="val 1967"/>
            </a:avLst>
          </a:prstGeom>
          <a:solidFill>
            <a:srgbClr val="F4F7F9"/>
          </a:solidFill>
          <a:ln w="19050">
            <a:solidFill>
              <a:srgbClr val="E2E8EE"/>
            </a:solidFill>
            <a:prstDash val="dash"/>
          </a:ln>
        </p:spPr>
      </p:sp>
      <p:pic>
        <p:nvPicPr>
          <p:cNvPr id="5" name="Image 0" descr="preencoded.png"/>
          <p:cNvPicPr>
            <a:picLocks noChangeAspect="1"/>
          </p:cNvPicPr>
          <p:nvPr/>
        </p:nvPicPr>
        <p:blipFill>
          <a:blip r:embed="rId3"/>
          <a:stretch>
            <a:fillRect/>
          </a:stretch>
        </p:blipFill>
        <p:spPr>
          <a:xfrm>
            <a:off x="2994660" y="2537460"/>
            <a:ext cx="548640" cy="548640"/>
          </a:xfrm>
          <a:prstGeom prst="rect">
            <a:avLst/>
          </a:prstGeom>
        </p:spPr>
      </p:pic>
      <p:sp>
        <p:nvSpPr>
          <p:cNvPr id="6" name="Text 3"/>
          <p:cNvSpPr/>
          <p:nvPr/>
        </p:nvSpPr>
        <p:spPr>
          <a:xfrm>
            <a:off x="822960" y="3113532"/>
            <a:ext cx="489204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Heart Rate Box Plot Here ]</a:t>
            </a:r>
            <a:endParaRPr lang="en-US" sz="1250" dirty="0"/>
          </a:p>
        </p:txBody>
      </p:sp>
      <p:sp>
        <p:nvSpPr>
          <p:cNvPr id="7" name="Text 4"/>
          <p:cNvSpPr/>
          <p:nvPr/>
        </p:nvSpPr>
        <p:spPr>
          <a:xfrm>
            <a:off x="822960" y="3461004"/>
            <a:ext cx="489204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Maximum heart rate achieved</a:t>
            </a:r>
            <a:endParaRPr lang="en-US" sz="950" dirty="0"/>
          </a:p>
        </p:txBody>
      </p:sp>
      <p:sp>
        <p:nvSpPr>
          <p:cNvPr id="8" name="Shape 5"/>
          <p:cNvSpPr/>
          <p:nvPr/>
        </p:nvSpPr>
        <p:spPr>
          <a:xfrm>
            <a:off x="6735330" y="1684651"/>
            <a:ext cx="4369283" cy="2600096"/>
          </a:xfrm>
          <a:prstGeom prst="roundRect">
            <a:avLst>
              <a:gd name="adj" fmla="val 1967"/>
            </a:avLst>
          </a:prstGeom>
          <a:solidFill>
            <a:srgbClr val="F4F7F9"/>
          </a:solidFill>
          <a:ln w="19050">
            <a:solidFill>
              <a:srgbClr val="E2E8EE"/>
            </a:solidFill>
            <a:prstDash val="dash"/>
          </a:ln>
        </p:spPr>
      </p:sp>
      <p:pic>
        <p:nvPicPr>
          <p:cNvPr id="9" name="Image 1" descr="preencoded.png"/>
          <p:cNvPicPr>
            <a:picLocks noChangeAspect="1"/>
          </p:cNvPicPr>
          <p:nvPr/>
        </p:nvPicPr>
        <p:blipFill>
          <a:blip r:embed="rId3"/>
          <a:stretch>
            <a:fillRect/>
          </a:stretch>
        </p:blipFill>
        <p:spPr>
          <a:xfrm>
            <a:off x="8645652" y="2537460"/>
            <a:ext cx="548640" cy="548640"/>
          </a:xfrm>
          <a:prstGeom prst="rect">
            <a:avLst/>
          </a:prstGeom>
        </p:spPr>
      </p:pic>
      <p:sp>
        <p:nvSpPr>
          <p:cNvPr id="10" name="Text 6"/>
          <p:cNvSpPr/>
          <p:nvPr/>
        </p:nvSpPr>
        <p:spPr>
          <a:xfrm>
            <a:off x="6473952" y="3113532"/>
            <a:ext cx="489204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Chest Pain Count Plot Here ]</a:t>
            </a:r>
            <a:endParaRPr lang="en-US" sz="1250" dirty="0"/>
          </a:p>
        </p:txBody>
      </p:sp>
      <p:sp>
        <p:nvSpPr>
          <p:cNvPr id="11" name="Text 7"/>
          <p:cNvSpPr/>
          <p:nvPr/>
        </p:nvSpPr>
        <p:spPr>
          <a:xfrm>
            <a:off x="6473952" y="3461004"/>
            <a:ext cx="489204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Distribution across chest pain types</a:t>
            </a:r>
            <a:endParaRPr lang="en-US" sz="950" dirty="0"/>
          </a:p>
        </p:txBody>
      </p:sp>
      <p:sp>
        <p:nvSpPr>
          <p:cNvPr id="12" name="Shape 8"/>
          <p:cNvSpPr/>
          <p:nvPr/>
        </p:nvSpPr>
        <p:spPr>
          <a:xfrm>
            <a:off x="548640" y="4709160"/>
            <a:ext cx="420624" cy="420624"/>
          </a:xfrm>
          <a:prstGeom prst="ellipse">
            <a:avLst/>
          </a:prstGeom>
          <a:solidFill>
            <a:srgbClr val="EEF4F7"/>
          </a:solidFill>
          <a:ln/>
        </p:spPr>
      </p:sp>
      <p:pic>
        <p:nvPicPr>
          <p:cNvPr id="13" name="Image 2" descr="preencoded.png"/>
          <p:cNvPicPr>
            <a:picLocks noChangeAspect="1"/>
          </p:cNvPicPr>
          <p:nvPr/>
        </p:nvPicPr>
        <p:blipFill>
          <a:blip r:embed="rId4"/>
          <a:stretch>
            <a:fillRect/>
          </a:stretch>
        </p:blipFill>
        <p:spPr>
          <a:xfrm>
            <a:off x="643280" y="4803800"/>
            <a:ext cx="231343" cy="231343"/>
          </a:xfrm>
          <a:prstGeom prst="rect">
            <a:avLst/>
          </a:prstGeom>
        </p:spPr>
      </p:pic>
      <p:sp>
        <p:nvSpPr>
          <p:cNvPr id="14" name="Text 9"/>
          <p:cNvSpPr/>
          <p:nvPr/>
        </p:nvSpPr>
        <p:spPr>
          <a:xfrm>
            <a:off x="1115568"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Clinical Importance</a:t>
            </a:r>
            <a:endParaRPr lang="en-US" sz="1200" dirty="0"/>
          </a:p>
        </p:txBody>
      </p:sp>
      <p:sp>
        <p:nvSpPr>
          <p:cNvPr id="15" name="Text 10"/>
          <p:cNvSpPr/>
          <p:nvPr/>
        </p:nvSpPr>
        <p:spPr>
          <a:xfrm>
            <a:off x="548640"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Maximum heart rate during exertion and chest pain type are both routinely used in cardiac risk assessment.</a:t>
            </a:r>
            <a:endParaRPr lang="en-US" sz="980" dirty="0"/>
          </a:p>
        </p:txBody>
      </p:sp>
      <p:sp>
        <p:nvSpPr>
          <p:cNvPr id="16" name="Shape 11"/>
          <p:cNvSpPr/>
          <p:nvPr/>
        </p:nvSpPr>
        <p:spPr>
          <a:xfrm>
            <a:off x="4368698" y="4709160"/>
            <a:ext cx="420624" cy="420624"/>
          </a:xfrm>
          <a:prstGeom prst="ellipse">
            <a:avLst/>
          </a:prstGeom>
          <a:solidFill>
            <a:srgbClr val="EEF4F7"/>
          </a:solidFill>
          <a:ln/>
        </p:spPr>
      </p:sp>
      <p:pic>
        <p:nvPicPr>
          <p:cNvPr id="17" name="Image 3" descr="preencoded.png"/>
          <p:cNvPicPr>
            <a:picLocks noChangeAspect="1"/>
          </p:cNvPicPr>
          <p:nvPr/>
        </p:nvPicPr>
        <p:blipFill>
          <a:blip r:embed="rId5"/>
          <a:stretch>
            <a:fillRect/>
          </a:stretch>
        </p:blipFill>
        <p:spPr>
          <a:xfrm>
            <a:off x="4463339" y="4803800"/>
            <a:ext cx="231343" cy="231343"/>
          </a:xfrm>
          <a:prstGeom prst="rect">
            <a:avLst/>
          </a:prstGeom>
        </p:spPr>
      </p:pic>
      <p:sp>
        <p:nvSpPr>
          <p:cNvPr id="18" name="Text 12"/>
          <p:cNvSpPr/>
          <p:nvPr/>
        </p:nvSpPr>
        <p:spPr>
          <a:xfrm>
            <a:off x="4935626"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Why These Variables Matter</a:t>
            </a:r>
            <a:endParaRPr lang="en-US" sz="1200" dirty="0"/>
          </a:p>
        </p:txBody>
      </p:sp>
      <p:sp>
        <p:nvSpPr>
          <p:cNvPr id="19" name="Text 13"/>
          <p:cNvSpPr/>
          <p:nvPr/>
        </p:nvSpPr>
        <p:spPr>
          <a:xfrm>
            <a:off x="4368698"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Both reflect how the heart responds under stress, offering functional insight beyond static measurements.</a:t>
            </a:r>
            <a:endParaRPr lang="en-US" sz="980" dirty="0"/>
          </a:p>
        </p:txBody>
      </p:sp>
      <p:sp>
        <p:nvSpPr>
          <p:cNvPr id="20" name="Shape 14"/>
          <p:cNvSpPr/>
          <p:nvPr/>
        </p:nvSpPr>
        <p:spPr>
          <a:xfrm>
            <a:off x="8188757" y="4709160"/>
            <a:ext cx="420624" cy="420624"/>
          </a:xfrm>
          <a:prstGeom prst="ellipse">
            <a:avLst/>
          </a:prstGeom>
          <a:solidFill>
            <a:srgbClr val="EEF4F7"/>
          </a:solidFill>
          <a:ln/>
        </p:spPr>
      </p:sp>
      <p:pic>
        <p:nvPicPr>
          <p:cNvPr id="21" name="Image 4" descr="preencoded.png"/>
          <p:cNvPicPr>
            <a:picLocks noChangeAspect="1"/>
          </p:cNvPicPr>
          <p:nvPr/>
        </p:nvPicPr>
        <p:blipFill>
          <a:blip r:embed="rId6"/>
          <a:stretch>
            <a:fillRect/>
          </a:stretch>
        </p:blipFill>
        <p:spPr>
          <a:xfrm>
            <a:off x="8283397" y="4803800"/>
            <a:ext cx="231343" cy="231343"/>
          </a:xfrm>
          <a:prstGeom prst="rect">
            <a:avLst/>
          </a:prstGeom>
        </p:spPr>
      </p:pic>
      <p:sp>
        <p:nvSpPr>
          <p:cNvPr id="22" name="Text 15"/>
          <p:cNvSpPr/>
          <p:nvPr/>
        </p:nvSpPr>
        <p:spPr>
          <a:xfrm>
            <a:off x="8755685" y="4690872"/>
            <a:ext cx="2887370" cy="29260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Supporting Exploratory Insight</a:t>
            </a:r>
            <a:endParaRPr lang="en-US" sz="1200" dirty="0"/>
          </a:p>
        </p:txBody>
      </p:sp>
      <p:sp>
        <p:nvSpPr>
          <p:cNvPr id="23" name="Text 16"/>
          <p:cNvSpPr/>
          <p:nvPr/>
        </p:nvSpPr>
        <p:spPr>
          <a:xfrm>
            <a:off x="8188757" y="5138928"/>
            <a:ext cx="3454298" cy="777240"/>
          </a:xfrm>
          <a:prstGeom prst="rect">
            <a:avLst/>
          </a:prstGeom>
          <a:noFill/>
          <a:ln/>
        </p:spPr>
        <p:txBody>
          <a:bodyPr wrap="square" lIns="0" tIns="0" rIns="0" bIns="0" rtlCol="0" anchor="ctr"/>
          <a:lstStyle/>
          <a:p>
            <a:pPr marL="0" indent="0">
              <a:lnSpc>
                <a:spcPct val="112000"/>
              </a:lnSpc>
              <a:buNone/>
            </a:pPr>
            <a:r>
              <a:rPr lang="en-US" sz="980" dirty="0">
                <a:solidFill>
                  <a:srgbClr val="5A6B7B"/>
                </a:solidFill>
                <a:latin typeface="Calibri" pitchFamily="34" charset="0"/>
                <a:ea typeface="Calibri" pitchFamily="34" charset="-122"/>
                <a:cs typeface="Calibri" pitchFamily="34" charset="-120"/>
              </a:rPr>
              <a:t>Comparing these distributions across diagnosis groups helps surface patterns worth deeper statistical testing.</a:t>
            </a:r>
            <a:endParaRPr lang="en-US" sz="980" dirty="0"/>
          </a:p>
        </p:txBody>
      </p:sp>
      <p:sp>
        <p:nvSpPr>
          <p:cNvPr id="24"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5" name="Text 1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pic>
        <p:nvPicPr>
          <p:cNvPr id="26" name="Picture 25"/>
          <p:cNvPicPr>
            <a:picLocks noChangeAspect="1"/>
          </p:cNvPicPr>
          <p:nvPr/>
        </p:nvPicPr>
        <p:blipFill>
          <a:blip r:embed="rId7"/>
          <a:stretch>
            <a:fillRect/>
          </a:stretch>
        </p:blipFill>
        <p:spPr>
          <a:xfrm>
            <a:off x="830860" y="1411737"/>
            <a:ext cx="5047488" cy="3159556"/>
          </a:xfrm>
          <a:prstGeom prst="rect">
            <a:avLst/>
          </a:prstGeom>
        </p:spPr>
      </p:pic>
      <p:pic>
        <p:nvPicPr>
          <p:cNvPr id="27" name="Picture 26"/>
          <p:cNvPicPr>
            <a:picLocks noChangeAspect="1"/>
          </p:cNvPicPr>
          <p:nvPr/>
        </p:nvPicPr>
        <p:blipFill>
          <a:blip r:embed="rId8"/>
          <a:stretch>
            <a:fillRect/>
          </a:stretch>
        </p:blipFill>
        <p:spPr>
          <a:xfrm>
            <a:off x="6473952" y="1411737"/>
            <a:ext cx="4663744" cy="31886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CORRELATION ANALYSIS</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Correlation Heatmap</a:t>
            </a:r>
            <a:endParaRPr lang="en-US" sz="3200" dirty="0"/>
          </a:p>
        </p:txBody>
      </p:sp>
      <p:sp>
        <p:nvSpPr>
          <p:cNvPr id="4" name="Shape 2"/>
          <p:cNvSpPr/>
          <p:nvPr/>
        </p:nvSpPr>
        <p:spPr>
          <a:xfrm>
            <a:off x="1070264" y="2872670"/>
            <a:ext cx="4443152" cy="2118499"/>
          </a:xfrm>
          <a:prstGeom prst="roundRect">
            <a:avLst>
              <a:gd name="adj" fmla="val 1224"/>
            </a:avLst>
          </a:prstGeom>
          <a:solidFill>
            <a:srgbClr val="F4F7F9"/>
          </a:solidFill>
          <a:ln w="19050">
            <a:solidFill>
              <a:srgbClr val="E2E8EE"/>
            </a:solidFill>
            <a:prstDash val="dash"/>
          </a:ln>
        </p:spPr>
      </p:sp>
      <p:pic>
        <p:nvPicPr>
          <p:cNvPr id="5" name="Image 0" descr="preencoded.png"/>
          <p:cNvPicPr>
            <a:picLocks noChangeAspect="1"/>
          </p:cNvPicPr>
          <p:nvPr/>
        </p:nvPicPr>
        <p:blipFill>
          <a:blip r:embed="rId3"/>
          <a:stretch>
            <a:fillRect/>
          </a:stretch>
        </p:blipFill>
        <p:spPr>
          <a:xfrm>
            <a:off x="3063240" y="3383280"/>
            <a:ext cx="548640" cy="548640"/>
          </a:xfrm>
          <a:prstGeom prst="rect">
            <a:avLst/>
          </a:prstGeom>
        </p:spPr>
      </p:pic>
      <p:sp>
        <p:nvSpPr>
          <p:cNvPr id="6" name="Text 3"/>
          <p:cNvSpPr/>
          <p:nvPr/>
        </p:nvSpPr>
        <p:spPr>
          <a:xfrm>
            <a:off x="822960" y="3959352"/>
            <a:ext cx="5029200"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 Insert Correlation Heatmap Here ]</a:t>
            </a:r>
            <a:endParaRPr lang="en-US" sz="1250" dirty="0"/>
          </a:p>
        </p:txBody>
      </p:sp>
      <p:sp>
        <p:nvSpPr>
          <p:cNvPr id="7" name="Text 4"/>
          <p:cNvSpPr/>
          <p:nvPr/>
        </p:nvSpPr>
        <p:spPr>
          <a:xfrm>
            <a:off x="822960" y="4306824"/>
            <a:ext cx="5029200" cy="274320"/>
          </a:xfrm>
          <a:prstGeom prst="rect">
            <a:avLst/>
          </a:prstGeom>
          <a:noFill/>
          <a:ln/>
        </p:spPr>
        <p:txBody>
          <a:bodyPr wrap="square" lIns="0" tIns="0" rIns="0" bIns="0" rtlCol="0" anchor="ctr"/>
          <a:lstStyle/>
          <a:p>
            <a:pPr marL="0" indent="0" algn="ctr">
              <a:buNone/>
            </a:pPr>
            <a:r>
              <a:rPr lang="en-US" sz="950" i="1" dirty="0">
                <a:solidFill>
                  <a:srgbClr val="5A6B7B"/>
                </a:solidFill>
                <a:latin typeface="Calibri" pitchFamily="34" charset="0"/>
                <a:ea typeface="Calibri" pitchFamily="34" charset="-122"/>
                <a:cs typeface="Calibri" pitchFamily="34" charset="-120"/>
              </a:rPr>
              <a:t>Pairwise correlation across numeric clinical features</a:t>
            </a:r>
            <a:endParaRPr lang="en-US" sz="950" dirty="0"/>
          </a:p>
        </p:txBody>
      </p:sp>
      <p:sp>
        <p:nvSpPr>
          <p:cNvPr id="8" name="Shape 5"/>
          <p:cNvSpPr/>
          <p:nvPr/>
        </p:nvSpPr>
        <p:spPr>
          <a:xfrm>
            <a:off x="6400800" y="1645920"/>
            <a:ext cx="5257800" cy="1033272"/>
          </a:xfrm>
          <a:prstGeom prst="roundRect">
            <a:avLst>
              <a:gd name="adj" fmla="val 6195"/>
            </a:avLst>
          </a:prstGeom>
          <a:solidFill>
            <a:srgbClr val="0B1F3A"/>
          </a:solidFill>
          <a:ln/>
        </p:spPr>
      </p:sp>
      <p:sp>
        <p:nvSpPr>
          <p:cNvPr id="9" name="Shape 6"/>
          <p:cNvSpPr/>
          <p:nvPr/>
        </p:nvSpPr>
        <p:spPr>
          <a:xfrm>
            <a:off x="6601968" y="1915668"/>
            <a:ext cx="493776" cy="493776"/>
          </a:xfrm>
          <a:prstGeom prst="ellipse">
            <a:avLst/>
          </a:prstGeom>
          <a:solidFill>
            <a:srgbClr val="0E7C86"/>
          </a:solidFill>
          <a:ln/>
        </p:spPr>
      </p:sp>
      <p:pic>
        <p:nvPicPr>
          <p:cNvPr id="10" name="Image 1" descr="preencoded.png"/>
          <p:cNvPicPr>
            <a:picLocks noChangeAspect="1"/>
          </p:cNvPicPr>
          <p:nvPr/>
        </p:nvPicPr>
        <p:blipFill>
          <a:blip r:embed="rId4"/>
          <a:stretch>
            <a:fillRect/>
          </a:stretch>
        </p:blipFill>
        <p:spPr>
          <a:xfrm>
            <a:off x="6720474" y="2034174"/>
            <a:ext cx="256764" cy="256764"/>
          </a:xfrm>
          <a:prstGeom prst="rect">
            <a:avLst/>
          </a:prstGeom>
        </p:spPr>
      </p:pic>
      <p:sp>
        <p:nvSpPr>
          <p:cNvPr id="11" name="Text 7"/>
          <p:cNvSpPr/>
          <p:nvPr/>
        </p:nvSpPr>
        <p:spPr>
          <a:xfrm>
            <a:off x="7269480" y="1764792"/>
            <a:ext cx="420624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Correlation Coefficients</a:t>
            </a:r>
            <a:endParaRPr lang="en-US" sz="1250" dirty="0"/>
          </a:p>
        </p:txBody>
      </p:sp>
      <p:sp>
        <p:nvSpPr>
          <p:cNvPr id="12" name="Text 8"/>
          <p:cNvSpPr/>
          <p:nvPr/>
        </p:nvSpPr>
        <p:spPr>
          <a:xfrm>
            <a:off x="7269480" y="2084832"/>
            <a:ext cx="4160520" cy="548640"/>
          </a:xfrm>
          <a:prstGeom prst="rect">
            <a:avLst/>
          </a:prstGeom>
          <a:noFill/>
          <a:ln/>
        </p:spPr>
        <p:txBody>
          <a:bodyPr wrap="square" lIns="0" tIns="0" rIns="0" bIns="0" rtlCol="0" anchor="ctr"/>
          <a:lstStyle/>
          <a:p>
            <a:pPr marL="0" indent="0">
              <a:lnSpc>
                <a:spcPct val="110000"/>
              </a:lnSpc>
              <a:buNone/>
            </a:pPr>
            <a:r>
              <a:rPr lang="en-US" sz="960" dirty="0">
                <a:solidFill>
                  <a:srgbClr val="9FB0BE"/>
                </a:solidFill>
                <a:latin typeface="Calibri" pitchFamily="34" charset="0"/>
                <a:ea typeface="Calibri" pitchFamily="34" charset="-122"/>
                <a:cs typeface="Calibri" pitchFamily="34" charset="-120"/>
              </a:rPr>
              <a:t>Each cell shows how strongly two variables move together, on a scale from -1 to +1.</a:t>
            </a:r>
            <a:endParaRPr lang="en-US" sz="960" dirty="0"/>
          </a:p>
        </p:txBody>
      </p:sp>
      <p:sp>
        <p:nvSpPr>
          <p:cNvPr id="13" name="Shape 9"/>
          <p:cNvSpPr/>
          <p:nvPr/>
        </p:nvSpPr>
        <p:spPr>
          <a:xfrm>
            <a:off x="6400800" y="2825496"/>
            <a:ext cx="5257800" cy="1033272"/>
          </a:xfrm>
          <a:prstGeom prst="roundRect">
            <a:avLst>
              <a:gd name="adj" fmla="val 6195"/>
            </a:avLst>
          </a:prstGeom>
          <a:solidFill>
            <a:srgbClr val="0B1F3A"/>
          </a:solidFill>
          <a:ln/>
        </p:spPr>
      </p:sp>
      <p:sp>
        <p:nvSpPr>
          <p:cNvPr id="14" name="Shape 10"/>
          <p:cNvSpPr/>
          <p:nvPr/>
        </p:nvSpPr>
        <p:spPr>
          <a:xfrm>
            <a:off x="6601968" y="3095244"/>
            <a:ext cx="493776" cy="493776"/>
          </a:xfrm>
          <a:prstGeom prst="ellipse">
            <a:avLst/>
          </a:prstGeom>
          <a:solidFill>
            <a:srgbClr val="0E7C86"/>
          </a:solidFill>
          <a:ln/>
        </p:spPr>
      </p:sp>
      <p:pic>
        <p:nvPicPr>
          <p:cNvPr id="15" name="Image 2" descr="preencoded.png"/>
          <p:cNvPicPr>
            <a:picLocks noChangeAspect="1"/>
          </p:cNvPicPr>
          <p:nvPr/>
        </p:nvPicPr>
        <p:blipFill>
          <a:blip r:embed="rId5"/>
          <a:stretch>
            <a:fillRect/>
          </a:stretch>
        </p:blipFill>
        <p:spPr>
          <a:xfrm>
            <a:off x="6720474" y="3213750"/>
            <a:ext cx="256764" cy="256764"/>
          </a:xfrm>
          <a:prstGeom prst="rect">
            <a:avLst/>
          </a:prstGeom>
        </p:spPr>
      </p:pic>
      <p:sp>
        <p:nvSpPr>
          <p:cNvPr id="16" name="Text 11"/>
          <p:cNvSpPr/>
          <p:nvPr/>
        </p:nvSpPr>
        <p:spPr>
          <a:xfrm>
            <a:off x="7269480" y="2944368"/>
            <a:ext cx="420624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Positive vs. Negative Relationships</a:t>
            </a:r>
            <a:endParaRPr lang="en-US" sz="1250" dirty="0"/>
          </a:p>
        </p:txBody>
      </p:sp>
      <p:sp>
        <p:nvSpPr>
          <p:cNvPr id="17" name="Text 12"/>
          <p:cNvSpPr/>
          <p:nvPr/>
        </p:nvSpPr>
        <p:spPr>
          <a:xfrm>
            <a:off x="7269480" y="3264408"/>
            <a:ext cx="4160520" cy="548640"/>
          </a:xfrm>
          <a:prstGeom prst="rect">
            <a:avLst/>
          </a:prstGeom>
          <a:noFill/>
          <a:ln/>
        </p:spPr>
        <p:txBody>
          <a:bodyPr wrap="square" lIns="0" tIns="0" rIns="0" bIns="0" rtlCol="0" anchor="ctr"/>
          <a:lstStyle/>
          <a:p>
            <a:pPr marL="0" indent="0">
              <a:lnSpc>
                <a:spcPct val="110000"/>
              </a:lnSpc>
              <a:buNone/>
            </a:pPr>
            <a:r>
              <a:rPr lang="en-US" sz="960" dirty="0">
                <a:solidFill>
                  <a:srgbClr val="9FB0BE"/>
                </a:solidFill>
                <a:latin typeface="Calibri" pitchFamily="34" charset="0"/>
                <a:ea typeface="Calibri" pitchFamily="34" charset="-122"/>
                <a:cs typeface="Calibri" pitchFamily="34" charset="-120"/>
              </a:rPr>
              <a:t>Positive values indicate variables that rise together; negative values indicate inverse relationships.</a:t>
            </a:r>
            <a:endParaRPr lang="en-US" sz="960" dirty="0"/>
          </a:p>
        </p:txBody>
      </p:sp>
      <p:sp>
        <p:nvSpPr>
          <p:cNvPr id="18" name="Shape 13"/>
          <p:cNvSpPr/>
          <p:nvPr/>
        </p:nvSpPr>
        <p:spPr>
          <a:xfrm>
            <a:off x="6400800" y="4005072"/>
            <a:ext cx="5257800" cy="1033272"/>
          </a:xfrm>
          <a:prstGeom prst="roundRect">
            <a:avLst>
              <a:gd name="adj" fmla="val 6195"/>
            </a:avLst>
          </a:prstGeom>
          <a:solidFill>
            <a:srgbClr val="0B1F3A"/>
          </a:solidFill>
          <a:ln/>
        </p:spPr>
      </p:sp>
      <p:sp>
        <p:nvSpPr>
          <p:cNvPr id="19" name="Shape 14"/>
          <p:cNvSpPr/>
          <p:nvPr/>
        </p:nvSpPr>
        <p:spPr>
          <a:xfrm>
            <a:off x="6601968" y="4274820"/>
            <a:ext cx="493776" cy="493776"/>
          </a:xfrm>
          <a:prstGeom prst="ellipse">
            <a:avLst/>
          </a:prstGeom>
          <a:solidFill>
            <a:srgbClr val="0E7C86"/>
          </a:solidFill>
          <a:ln/>
        </p:spPr>
      </p:sp>
      <p:pic>
        <p:nvPicPr>
          <p:cNvPr id="20" name="Image 3" descr="preencoded.png"/>
          <p:cNvPicPr>
            <a:picLocks noChangeAspect="1"/>
          </p:cNvPicPr>
          <p:nvPr/>
        </p:nvPicPr>
        <p:blipFill>
          <a:blip r:embed="rId6"/>
          <a:stretch>
            <a:fillRect/>
          </a:stretch>
        </p:blipFill>
        <p:spPr>
          <a:xfrm>
            <a:off x="6720474" y="4393326"/>
            <a:ext cx="256764" cy="256764"/>
          </a:xfrm>
          <a:prstGeom prst="rect">
            <a:avLst/>
          </a:prstGeom>
        </p:spPr>
      </p:pic>
      <p:sp>
        <p:nvSpPr>
          <p:cNvPr id="21" name="Text 15"/>
          <p:cNvSpPr/>
          <p:nvPr/>
        </p:nvSpPr>
        <p:spPr>
          <a:xfrm>
            <a:off x="7269480" y="4123944"/>
            <a:ext cx="420624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Correlation ≠ Causation</a:t>
            </a:r>
            <a:endParaRPr lang="en-US" sz="1250" dirty="0"/>
          </a:p>
        </p:txBody>
      </p:sp>
      <p:sp>
        <p:nvSpPr>
          <p:cNvPr id="22" name="Text 16"/>
          <p:cNvSpPr/>
          <p:nvPr/>
        </p:nvSpPr>
        <p:spPr>
          <a:xfrm>
            <a:off x="7269480" y="4443984"/>
            <a:ext cx="4160520" cy="548640"/>
          </a:xfrm>
          <a:prstGeom prst="rect">
            <a:avLst/>
          </a:prstGeom>
          <a:noFill/>
          <a:ln/>
        </p:spPr>
        <p:txBody>
          <a:bodyPr wrap="square" lIns="0" tIns="0" rIns="0" bIns="0" rtlCol="0" anchor="ctr"/>
          <a:lstStyle/>
          <a:p>
            <a:pPr marL="0" indent="0">
              <a:lnSpc>
                <a:spcPct val="110000"/>
              </a:lnSpc>
              <a:buNone/>
            </a:pPr>
            <a:r>
              <a:rPr lang="en-US" sz="960" dirty="0">
                <a:solidFill>
                  <a:srgbClr val="9FB0BE"/>
                </a:solidFill>
                <a:latin typeface="Calibri" pitchFamily="34" charset="0"/>
                <a:ea typeface="Calibri" pitchFamily="34" charset="-122"/>
                <a:cs typeface="Calibri" pitchFamily="34" charset="-120"/>
              </a:rPr>
              <a:t>A strong correlation shows association, not proof that one variable causes the other.</a:t>
            </a:r>
            <a:endParaRPr lang="en-US" sz="960" dirty="0"/>
          </a:p>
        </p:txBody>
      </p:sp>
      <p:sp>
        <p:nvSpPr>
          <p:cNvPr id="23" name="Shape 17"/>
          <p:cNvSpPr/>
          <p:nvPr/>
        </p:nvSpPr>
        <p:spPr>
          <a:xfrm>
            <a:off x="6400800" y="5184648"/>
            <a:ext cx="5257800" cy="1033272"/>
          </a:xfrm>
          <a:prstGeom prst="roundRect">
            <a:avLst>
              <a:gd name="adj" fmla="val 6195"/>
            </a:avLst>
          </a:prstGeom>
          <a:solidFill>
            <a:srgbClr val="0B1F3A"/>
          </a:solidFill>
          <a:ln/>
        </p:spPr>
      </p:sp>
      <p:sp>
        <p:nvSpPr>
          <p:cNvPr id="24" name="Shape 18"/>
          <p:cNvSpPr/>
          <p:nvPr/>
        </p:nvSpPr>
        <p:spPr>
          <a:xfrm>
            <a:off x="6601968" y="5454396"/>
            <a:ext cx="493776" cy="493776"/>
          </a:xfrm>
          <a:prstGeom prst="ellipse">
            <a:avLst/>
          </a:prstGeom>
          <a:solidFill>
            <a:srgbClr val="0E7C86"/>
          </a:solidFill>
          <a:ln/>
        </p:spPr>
      </p:sp>
      <p:pic>
        <p:nvPicPr>
          <p:cNvPr id="25" name="Image 4" descr="preencoded.png"/>
          <p:cNvPicPr>
            <a:picLocks noChangeAspect="1"/>
          </p:cNvPicPr>
          <p:nvPr/>
        </p:nvPicPr>
        <p:blipFill>
          <a:blip r:embed="rId7"/>
          <a:stretch>
            <a:fillRect/>
          </a:stretch>
        </p:blipFill>
        <p:spPr>
          <a:xfrm>
            <a:off x="6720474" y="5572902"/>
            <a:ext cx="256764" cy="256764"/>
          </a:xfrm>
          <a:prstGeom prst="rect">
            <a:avLst/>
          </a:prstGeom>
        </p:spPr>
      </p:pic>
      <p:sp>
        <p:nvSpPr>
          <p:cNvPr id="26" name="Text 19"/>
          <p:cNvSpPr/>
          <p:nvPr/>
        </p:nvSpPr>
        <p:spPr>
          <a:xfrm>
            <a:off x="7269480" y="5303520"/>
            <a:ext cx="420624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Why Heatmaps Help</a:t>
            </a:r>
            <a:endParaRPr lang="en-US" sz="1250" dirty="0"/>
          </a:p>
        </p:txBody>
      </p:sp>
      <p:sp>
        <p:nvSpPr>
          <p:cNvPr id="27" name="Text 20"/>
          <p:cNvSpPr/>
          <p:nvPr/>
        </p:nvSpPr>
        <p:spPr>
          <a:xfrm>
            <a:off x="7269480" y="5623560"/>
            <a:ext cx="4160520" cy="548640"/>
          </a:xfrm>
          <a:prstGeom prst="rect">
            <a:avLst/>
          </a:prstGeom>
          <a:noFill/>
          <a:ln/>
        </p:spPr>
        <p:txBody>
          <a:bodyPr wrap="square" lIns="0" tIns="0" rIns="0" bIns="0" rtlCol="0" anchor="ctr"/>
          <a:lstStyle/>
          <a:p>
            <a:pPr marL="0" indent="0">
              <a:lnSpc>
                <a:spcPct val="110000"/>
              </a:lnSpc>
              <a:buNone/>
            </a:pPr>
            <a:r>
              <a:rPr lang="en-US" sz="960" dirty="0">
                <a:solidFill>
                  <a:srgbClr val="9FB0BE"/>
                </a:solidFill>
                <a:latin typeface="Calibri" pitchFamily="34" charset="0"/>
                <a:ea typeface="Calibri" pitchFamily="34" charset="-122"/>
                <a:cs typeface="Calibri" pitchFamily="34" charset="-120"/>
              </a:rPr>
              <a:t>They make it easy to scan dozens of relationships at once and flag which features deserve deeper review.</a:t>
            </a:r>
            <a:endParaRPr lang="en-US" sz="960" dirty="0"/>
          </a:p>
        </p:txBody>
      </p:sp>
      <p:sp>
        <p:nvSpPr>
          <p:cNvPr id="28" name="Text 21"/>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9"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pic>
        <p:nvPicPr>
          <p:cNvPr id="30" name="Picture 29"/>
          <p:cNvPicPr>
            <a:picLocks noChangeAspect="1"/>
          </p:cNvPicPr>
          <p:nvPr/>
        </p:nvPicPr>
        <p:blipFill>
          <a:blip r:embed="rId8"/>
          <a:stretch>
            <a:fillRect/>
          </a:stretch>
        </p:blipFill>
        <p:spPr>
          <a:xfrm>
            <a:off x="170275" y="1602839"/>
            <a:ext cx="5864765" cy="45693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KEY INSIGHTS</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What the Exploratory Analysis Suggests</a:t>
            </a:r>
            <a:endParaRPr lang="en-US" sz="3200" dirty="0"/>
          </a:p>
        </p:txBody>
      </p:sp>
      <p:sp>
        <p:nvSpPr>
          <p:cNvPr id="4" name="Shape 2"/>
          <p:cNvSpPr/>
          <p:nvPr/>
        </p:nvSpPr>
        <p:spPr>
          <a:xfrm>
            <a:off x="609448" y="1691640"/>
            <a:ext cx="5349240" cy="1828800"/>
          </a:xfrm>
          <a:prstGeom prst="roundRect">
            <a:avLst>
              <a:gd name="adj" fmla="val 4000"/>
            </a:avLst>
          </a:prstGeom>
          <a:solidFill>
            <a:srgbClr val="EEF4F7"/>
          </a:solidFill>
          <a:ln/>
          <a:effectLst>
            <a:outerShdw blurRad="101600" dist="38100" dir="2700000" algn="bl" rotWithShape="0">
              <a:srgbClr val="0B1F3A">
                <a:alpha val="12000"/>
              </a:srgbClr>
            </a:outerShdw>
          </a:effectLst>
        </p:spPr>
      </p:sp>
      <p:sp>
        <p:nvSpPr>
          <p:cNvPr id="5" name="Shape 3"/>
          <p:cNvSpPr/>
          <p:nvPr/>
        </p:nvSpPr>
        <p:spPr>
          <a:xfrm>
            <a:off x="929488" y="2240280"/>
            <a:ext cx="731520" cy="731520"/>
          </a:xfrm>
          <a:prstGeom prst="ellipse">
            <a:avLst/>
          </a:prstGeom>
          <a:solidFill>
            <a:srgbClr val="0B1F3A"/>
          </a:solidFill>
          <a:ln/>
        </p:spPr>
      </p:sp>
      <p:pic>
        <p:nvPicPr>
          <p:cNvPr id="6" name="Image 0" descr="preencoded.png"/>
          <p:cNvPicPr>
            <a:picLocks noChangeAspect="1"/>
          </p:cNvPicPr>
          <p:nvPr/>
        </p:nvPicPr>
        <p:blipFill>
          <a:blip r:embed="rId3"/>
          <a:stretch>
            <a:fillRect/>
          </a:stretch>
        </p:blipFill>
        <p:spPr>
          <a:xfrm>
            <a:off x="1112368" y="2423160"/>
            <a:ext cx="365760" cy="365760"/>
          </a:xfrm>
          <a:prstGeom prst="rect">
            <a:avLst/>
          </a:prstGeom>
        </p:spPr>
      </p:pic>
      <p:sp>
        <p:nvSpPr>
          <p:cNvPr id="7" name="Text 4"/>
          <p:cNvSpPr/>
          <p:nvPr/>
        </p:nvSpPr>
        <p:spPr>
          <a:xfrm>
            <a:off x="1889608" y="1947672"/>
            <a:ext cx="384048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Age as a Contributing Factor</a:t>
            </a:r>
            <a:endParaRPr lang="en-US" sz="1400" dirty="0"/>
          </a:p>
        </p:txBody>
      </p:sp>
      <p:sp>
        <p:nvSpPr>
          <p:cNvPr id="8" name="Text 5"/>
          <p:cNvSpPr/>
          <p:nvPr/>
        </p:nvSpPr>
        <p:spPr>
          <a:xfrm>
            <a:off x="1889608" y="2441448"/>
            <a:ext cx="3840480" cy="868680"/>
          </a:xfrm>
          <a:prstGeom prst="rect">
            <a:avLst/>
          </a:prstGeom>
          <a:noFill/>
          <a:ln/>
        </p:spPr>
        <p:txBody>
          <a:bodyPr wrap="square" lIns="0" tIns="0" rIns="0" bIns="0"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Age appears to be an important factor worth analyzing in relation to heart disease risk.</a:t>
            </a:r>
            <a:endParaRPr lang="en-US" sz="1050" dirty="0"/>
          </a:p>
        </p:txBody>
      </p:sp>
      <p:sp>
        <p:nvSpPr>
          <p:cNvPr id="9" name="Shape 6"/>
          <p:cNvSpPr/>
          <p:nvPr/>
        </p:nvSpPr>
        <p:spPr>
          <a:xfrm>
            <a:off x="6233008" y="1691640"/>
            <a:ext cx="5349240" cy="1828800"/>
          </a:xfrm>
          <a:prstGeom prst="roundRect">
            <a:avLst>
              <a:gd name="adj" fmla="val 4000"/>
            </a:avLst>
          </a:prstGeom>
          <a:solidFill>
            <a:srgbClr val="EEF4F7"/>
          </a:solidFill>
          <a:ln/>
          <a:effectLst>
            <a:outerShdw blurRad="101600" dist="38100" dir="2700000" algn="bl" rotWithShape="0">
              <a:srgbClr val="0B1F3A">
                <a:alpha val="12000"/>
              </a:srgbClr>
            </a:outerShdw>
          </a:effectLst>
        </p:spPr>
      </p:sp>
      <p:sp>
        <p:nvSpPr>
          <p:cNvPr id="10" name="Shape 7"/>
          <p:cNvSpPr/>
          <p:nvPr/>
        </p:nvSpPr>
        <p:spPr>
          <a:xfrm>
            <a:off x="6553048" y="2240280"/>
            <a:ext cx="731520" cy="731520"/>
          </a:xfrm>
          <a:prstGeom prst="ellipse">
            <a:avLst/>
          </a:prstGeom>
          <a:solidFill>
            <a:srgbClr val="0B1F3A"/>
          </a:solidFill>
          <a:ln/>
        </p:spPr>
      </p:sp>
      <p:pic>
        <p:nvPicPr>
          <p:cNvPr id="11" name="Image 1" descr="preencoded.png"/>
          <p:cNvPicPr>
            <a:picLocks noChangeAspect="1"/>
          </p:cNvPicPr>
          <p:nvPr/>
        </p:nvPicPr>
        <p:blipFill>
          <a:blip r:embed="rId4"/>
          <a:stretch>
            <a:fillRect/>
          </a:stretch>
        </p:blipFill>
        <p:spPr>
          <a:xfrm>
            <a:off x="6735928" y="2423160"/>
            <a:ext cx="365760" cy="365760"/>
          </a:xfrm>
          <a:prstGeom prst="rect">
            <a:avLst/>
          </a:prstGeom>
        </p:spPr>
      </p:pic>
      <p:sp>
        <p:nvSpPr>
          <p:cNvPr id="12" name="Text 8"/>
          <p:cNvSpPr/>
          <p:nvPr/>
        </p:nvSpPr>
        <p:spPr>
          <a:xfrm>
            <a:off x="7513168" y="1947672"/>
            <a:ext cx="384048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Chest Pain Type is Informative</a:t>
            </a:r>
            <a:endParaRPr lang="en-US" sz="1400" dirty="0"/>
          </a:p>
        </p:txBody>
      </p:sp>
      <p:sp>
        <p:nvSpPr>
          <p:cNvPr id="13" name="Text 9"/>
          <p:cNvSpPr/>
          <p:nvPr/>
        </p:nvSpPr>
        <p:spPr>
          <a:xfrm>
            <a:off x="7513168" y="2441448"/>
            <a:ext cx="3840480" cy="868680"/>
          </a:xfrm>
          <a:prstGeom prst="rect">
            <a:avLst/>
          </a:prstGeom>
          <a:noFill/>
          <a:ln/>
        </p:spPr>
        <p:txBody>
          <a:bodyPr wrap="square" lIns="0" tIns="0" rIns="0" bIns="0"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Chest pain type provides meaningful information that may help differentiate patient groups.</a:t>
            </a:r>
            <a:endParaRPr lang="en-US" sz="1050" dirty="0"/>
          </a:p>
        </p:txBody>
      </p:sp>
      <p:sp>
        <p:nvSpPr>
          <p:cNvPr id="14" name="Shape 10"/>
          <p:cNvSpPr/>
          <p:nvPr/>
        </p:nvSpPr>
        <p:spPr>
          <a:xfrm>
            <a:off x="609448" y="3794760"/>
            <a:ext cx="5349240" cy="1828800"/>
          </a:xfrm>
          <a:prstGeom prst="roundRect">
            <a:avLst>
              <a:gd name="adj" fmla="val 4000"/>
            </a:avLst>
          </a:prstGeom>
          <a:solidFill>
            <a:srgbClr val="EEF4F7"/>
          </a:solidFill>
          <a:ln/>
          <a:effectLst>
            <a:outerShdw blurRad="101600" dist="38100" dir="2700000" algn="bl" rotWithShape="0">
              <a:srgbClr val="0B1F3A">
                <a:alpha val="12000"/>
              </a:srgbClr>
            </a:outerShdw>
          </a:effectLst>
        </p:spPr>
      </p:sp>
      <p:sp>
        <p:nvSpPr>
          <p:cNvPr id="15" name="Shape 11"/>
          <p:cNvSpPr/>
          <p:nvPr/>
        </p:nvSpPr>
        <p:spPr>
          <a:xfrm>
            <a:off x="929488" y="4343400"/>
            <a:ext cx="731520" cy="731520"/>
          </a:xfrm>
          <a:prstGeom prst="ellipse">
            <a:avLst/>
          </a:prstGeom>
          <a:solidFill>
            <a:srgbClr val="0B1F3A"/>
          </a:solidFill>
          <a:ln/>
        </p:spPr>
      </p:sp>
      <p:pic>
        <p:nvPicPr>
          <p:cNvPr id="16" name="Image 2" descr="preencoded.png"/>
          <p:cNvPicPr>
            <a:picLocks noChangeAspect="1"/>
          </p:cNvPicPr>
          <p:nvPr/>
        </p:nvPicPr>
        <p:blipFill>
          <a:blip r:embed="rId5"/>
          <a:stretch>
            <a:fillRect/>
          </a:stretch>
        </p:blipFill>
        <p:spPr>
          <a:xfrm>
            <a:off x="1112368" y="4526280"/>
            <a:ext cx="365760" cy="365760"/>
          </a:xfrm>
          <a:prstGeom prst="rect">
            <a:avLst/>
          </a:prstGeom>
        </p:spPr>
      </p:pic>
      <p:sp>
        <p:nvSpPr>
          <p:cNvPr id="17" name="Text 12"/>
          <p:cNvSpPr/>
          <p:nvPr/>
        </p:nvSpPr>
        <p:spPr>
          <a:xfrm>
            <a:off x="1889608" y="4050792"/>
            <a:ext cx="384048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Features Should be Read Together</a:t>
            </a:r>
            <a:endParaRPr lang="en-US" sz="1400" dirty="0"/>
          </a:p>
        </p:txBody>
      </p:sp>
      <p:sp>
        <p:nvSpPr>
          <p:cNvPr id="18" name="Text 13"/>
          <p:cNvSpPr/>
          <p:nvPr/>
        </p:nvSpPr>
        <p:spPr>
          <a:xfrm>
            <a:off x="1889608" y="4544568"/>
            <a:ext cx="3840480" cy="868680"/>
          </a:xfrm>
          <a:prstGeom prst="rect">
            <a:avLst/>
          </a:prstGeom>
          <a:noFill/>
          <a:ln/>
        </p:spPr>
        <p:txBody>
          <a:bodyPr wrap="square" lIns="0" tIns="0" rIns="0" bIns="0"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Multiple clinical features should be interpreted together rather than in isolation.</a:t>
            </a:r>
            <a:endParaRPr lang="en-US" sz="1050" dirty="0"/>
          </a:p>
        </p:txBody>
      </p:sp>
      <p:sp>
        <p:nvSpPr>
          <p:cNvPr id="19" name="Shape 14"/>
          <p:cNvSpPr/>
          <p:nvPr/>
        </p:nvSpPr>
        <p:spPr>
          <a:xfrm>
            <a:off x="6233008" y="3794760"/>
            <a:ext cx="5349240" cy="1828800"/>
          </a:xfrm>
          <a:prstGeom prst="roundRect">
            <a:avLst>
              <a:gd name="adj" fmla="val 4000"/>
            </a:avLst>
          </a:prstGeom>
          <a:solidFill>
            <a:srgbClr val="EEF4F7"/>
          </a:solidFill>
          <a:ln/>
          <a:effectLst>
            <a:outerShdw blurRad="101600" dist="38100" dir="2700000" algn="bl" rotWithShape="0">
              <a:srgbClr val="0B1F3A">
                <a:alpha val="12000"/>
              </a:srgbClr>
            </a:outerShdw>
          </a:effectLst>
        </p:spPr>
      </p:sp>
      <p:sp>
        <p:nvSpPr>
          <p:cNvPr id="20" name="Shape 15"/>
          <p:cNvSpPr/>
          <p:nvPr/>
        </p:nvSpPr>
        <p:spPr>
          <a:xfrm>
            <a:off x="6553048" y="4343400"/>
            <a:ext cx="731520" cy="731520"/>
          </a:xfrm>
          <a:prstGeom prst="ellipse">
            <a:avLst/>
          </a:prstGeom>
          <a:solidFill>
            <a:srgbClr val="0B1F3A"/>
          </a:solidFill>
          <a:ln/>
        </p:spPr>
      </p:sp>
      <p:pic>
        <p:nvPicPr>
          <p:cNvPr id="21" name="Image 3" descr="preencoded.png"/>
          <p:cNvPicPr>
            <a:picLocks noChangeAspect="1"/>
          </p:cNvPicPr>
          <p:nvPr/>
        </p:nvPicPr>
        <p:blipFill>
          <a:blip r:embed="rId6"/>
          <a:stretch>
            <a:fillRect/>
          </a:stretch>
        </p:blipFill>
        <p:spPr>
          <a:xfrm>
            <a:off x="6735928" y="4526280"/>
            <a:ext cx="365760" cy="365760"/>
          </a:xfrm>
          <a:prstGeom prst="rect">
            <a:avLst/>
          </a:prstGeom>
        </p:spPr>
      </p:pic>
      <p:sp>
        <p:nvSpPr>
          <p:cNvPr id="22" name="Text 16"/>
          <p:cNvSpPr/>
          <p:nvPr/>
        </p:nvSpPr>
        <p:spPr>
          <a:xfrm>
            <a:off x="7513168" y="4050792"/>
            <a:ext cx="3840480" cy="45720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EDA Precedes Prediction</a:t>
            </a:r>
            <a:endParaRPr lang="en-US" sz="1400" dirty="0"/>
          </a:p>
        </p:txBody>
      </p:sp>
      <p:sp>
        <p:nvSpPr>
          <p:cNvPr id="23" name="Text 17"/>
          <p:cNvSpPr/>
          <p:nvPr/>
        </p:nvSpPr>
        <p:spPr>
          <a:xfrm>
            <a:off x="7513168" y="4544568"/>
            <a:ext cx="3840480" cy="868680"/>
          </a:xfrm>
          <a:prstGeom prst="rect">
            <a:avLst/>
          </a:prstGeom>
          <a:noFill/>
          <a:ln/>
        </p:spPr>
        <p:txBody>
          <a:bodyPr wrap="square" lIns="0" tIns="0" rIns="0" bIns="0" rtlCol="0" anchor="ctr"/>
          <a:lstStyle/>
          <a:p>
            <a:pPr marL="0" indent="0">
              <a:lnSpc>
                <a:spcPct val="115000"/>
              </a:lnSpc>
              <a:buNone/>
            </a:pPr>
            <a:r>
              <a:rPr lang="en-US" sz="1050" dirty="0">
                <a:solidFill>
                  <a:srgbClr val="5A6B7B"/>
                </a:solidFill>
                <a:latin typeface="Calibri" pitchFamily="34" charset="0"/>
                <a:ea typeface="Calibri" pitchFamily="34" charset="-122"/>
                <a:cs typeface="Calibri" pitchFamily="34" charset="-120"/>
              </a:rPr>
              <a:t>Exploratory analysis helps identify patterns before any predictive modeling is attempted.</a:t>
            </a:r>
            <a:endParaRPr lang="en-US" sz="105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5"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12A5A8"/>
                </a:solidFill>
                <a:latin typeface="Calibri" pitchFamily="34" charset="0"/>
                <a:ea typeface="Calibri" pitchFamily="34" charset="-122"/>
                <a:cs typeface="Calibri" pitchFamily="34" charset="-120"/>
              </a:rPr>
              <a:t>CHALLENGES FACED</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FFFFFF"/>
                </a:solidFill>
                <a:latin typeface="Cambria" pitchFamily="34" charset="0"/>
                <a:ea typeface="Cambria" pitchFamily="34" charset="-122"/>
                <a:cs typeface="Cambria" pitchFamily="34" charset="-120"/>
              </a:rPr>
              <a:t>Obstacles Encountered During the Project</a:t>
            </a:r>
            <a:endParaRPr lang="en-US" sz="3200" dirty="0"/>
          </a:p>
        </p:txBody>
      </p:sp>
      <p:sp>
        <p:nvSpPr>
          <p:cNvPr id="4" name="Shape 2"/>
          <p:cNvSpPr/>
          <p:nvPr/>
        </p:nvSpPr>
        <p:spPr>
          <a:xfrm>
            <a:off x="481432" y="1965960"/>
            <a:ext cx="2084832" cy="3200400"/>
          </a:xfrm>
          <a:prstGeom prst="roundRect">
            <a:avLst>
              <a:gd name="adj" fmla="val 3509"/>
            </a:avLst>
          </a:prstGeom>
          <a:solidFill>
            <a:srgbClr val="13294B"/>
          </a:solidFill>
          <a:ln/>
        </p:spPr>
      </p:sp>
      <p:sp>
        <p:nvSpPr>
          <p:cNvPr id="5" name="Shape 3"/>
          <p:cNvSpPr/>
          <p:nvPr/>
        </p:nvSpPr>
        <p:spPr>
          <a:xfrm>
            <a:off x="1222096" y="2258568"/>
            <a:ext cx="603504" cy="603504"/>
          </a:xfrm>
          <a:prstGeom prst="ellipse">
            <a:avLst/>
          </a:prstGeom>
          <a:solidFill>
            <a:srgbClr val="C8334D"/>
          </a:solidFill>
          <a:ln/>
        </p:spPr>
      </p:sp>
      <p:pic>
        <p:nvPicPr>
          <p:cNvPr id="6" name="Image 0" descr="preencoded.png"/>
          <p:cNvPicPr>
            <a:picLocks noChangeAspect="1"/>
          </p:cNvPicPr>
          <p:nvPr/>
        </p:nvPicPr>
        <p:blipFill>
          <a:blip r:embed="rId3"/>
          <a:stretch>
            <a:fillRect/>
          </a:stretch>
        </p:blipFill>
        <p:spPr>
          <a:xfrm>
            <a:off x="1372972" y="2409444"/>
            <a:ext cx="301752" cy="301752"/>
          </a:xfrm>
          <a:prstGeom prst="rect">
            <a:avLst/>
          </a:prstGeom>
        </p:spPr>
      </p:pic>
      <p:sp>
        <p:nvSpPr>
          <p:cNvPr id="7" name="Text 4"/>
          <p:cNvSpPr/>
          <p:nvPr/>
        </p:nvSpPr>
        <p:spPr>
          <a:xfrm>
            <a:off x="646024" y="3063240"/>
            <a:ext cx="1755648" cy="59436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Missing Values</a:t>
            </a:r>
            <a:endParaRPr lang="en-US" sz="1250" dirty="0"/>
          </a:p>
        </p:txBody>
      </p:sp>
      <p:sp>
        <p:nvSpPr>
          <p:cNvPr id="8" name="Text 5"/>
          <p:cNvSpPr/>
          <p:nvPr/>
        </p:nvSpPr>
        <p:spPr>
          <a:xfrm>
            <a:off x="664312" y="3703320"/>
            <a:ext cx="1719072" cy="1371600"/>
          </a:xfrm>
          <a:prstGeom prst="rect">
            <a:avLst/>
          </a:prstGeom>
          <a:noFill/>
          <a:ln/>
        </p:spPr>
        <p:txBody>
          <a:bodyPr wrap="square" lIns="0" tIns="0" rIns="0" bIns="0" rtlCol="0" anchor="ctr"/>
          <a:lstStyle/>
          <a:p>
            <a:pPr marL="0" indent="0" algn="ctr">
              <a:lnSpc>
                <a:spcPct val="115000"/>
              </a:lnSpc>
              <a:buNone/>
            </a:pPr>
            <a:r>
              <a:rPr lang="en-US" sz="950" dirty="0">
                <a:solidFill>
                  <a:srgbClr val="9FB0BE"/>
                </a:solidFill>
                <a:latin typeface="Calibri" pitchFamily="34" charset="0"/>
                <a:ea typeface="Calibri" pitchFamily="34" charset="-122"/>
                <a:cs typeface="Calibri" pitchFamily="34" charset="-120"/>
              </a:rPr>
              <a:t>Some records contained missing or non-standard entries that required careful handling before analysis.</a:t>
            </a:r>
            <a:endParaRPr lang="en-US" sz="950" dirty="0"/>
          </a:p>
        </p:txBody>
      </p:sp>
      <p:sp>
        <p:nvSpPr>
          <p:cNvPr id="9" name="Shape 6"/>
          <p:cNvSpPr/>
          <p:nvPr/>
        </p:nvSpPr>
        <p:spPr>
          <a:xfrm>
            <a:off x="2767432" y="1965960"/>
            <a:ext cx="2084832" cy="3200400"/>
          </a:xfrm>
          <a:prstGeom prst="roundRect">
            <a:avLst>
              <a:gd name="adj" fmla="val 3509"/>
            </a:avLst>
          </a:prstGeom>
          <a:solidFill>
            <a:srgbClr val="13294B"/>
          </a:solidFill>
          <a:ln/>
        </p:spPr>
      </p:sp>
      <p:sp>
        <p:nvSpPr>
          <p:cNvPr id="10" name="Shape 7"/>
          <p:cNvSpPr/>
          <p:nvPr/>
        </p:nvSpPr>
        <p:spPr>
          <a:xfrm>
            <a:off x="3508096" y="2258568"/>
            <a:ext cx="603504" cy="603504"/>
          </a:xfrm>
          <a:prstGeom prst="ellipse">
            <a:avLst/>
          </a:prstGeom>
          <a:solidFill>
            <a:srgbClr val="C8334D"/>
          </a:solidFill>
          <a:ln/>
        </p:spPr>
      </p:sp>
      <p:pic>
        <p:nvPicPr>
          <p:cNvPr id="11" name="Image 1" descr="preencoded.png"/>
          <p:cNvPicPr>
            <a:picLocks noChangeAspect="1"/>
          </p:cNvPicPr>
          <p:nvPr/>
        </p:nvPicPr>
        <p:blipFill>
          <a:blip r:embed="rId4"/>
          <a:stretch>
            <a:fillRect/>
          </a:stretch>
        </p:blipFill>
        <p:spPr>
          <a:xfrm>
            <a:off x="3658972" y="2409444"/>
            <a:ext cx="301752" cy="301752"/>
          </a:xfrm>
          <a:prstGeom prst="rect">
            <a:avLst/>
          </a:prstGeom>
        </p:spPr>
      </p:pic>
      <p:sp>
        <p:nvSpPr>
          <p:cNvPr id="12" name="Text 8"/>
          <p:cNvSpPr/>
          <p:nvPr/>
        </p:nvSpPr>
        <p:spPr>
          <a:xfrm>
            <a:off x="2932024" y="3063240"/>
            <a:ext cx="1755648" cy="59436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Data Preprocessing</a:t>
            </a:r>
            <a:endParaRPr lang="en-US" sz="1250" dirty="0"/>
          </a:p>
        </p:txBody>
      </p:sp>
      <p:sp>
        <p:nvSpPr>
          <p:cNvPr id="13" name="Text 9"/>
          <p:cNvSpPr/>
          <p:nvPr/>
        </p:nvSpPr>
        <p:spPr>
          <a:xfrm>
            <a:off x="2950312" y="3703320"/>
            <a:ext cx="1719072" cy="1371600"/>
          </a:xfrm>
          <a:prstGeom prst="rect">
            <a:avLst/>
          </a:prstGeom>
          <a:noFill/>
          <a:ln/>
        </p:spPr>
        <p:txBody>
          <a:bodyPr wrap="square" lIns="0" tIns="0" rIns="0" bIns="0" rtlCol="0" anchor="ctr"/>
          <a:lstStyle/>
          <a:p>
            <a:pPr marL="0" indent="0" algn="ctr">
              <a:lnSpc>
                <a:spcPct val="115000"/>
              </a:lnSpc>
              <a:buNone/>
            </a:pPr>
            <a:r>
              <a:rPr lang="en-US" sz="950" dirty="0">
                <a:solidFill>
                  <a:srgbClr val="9FB0BE"/>
                </a:solidFill>
                <a:latin typeface="Calibri" pitchFamily="34" charset="0"/>
                <a:ea typeface="Calibri" pitchFamily="34" charset="-122"/>
                <a:cs typeface="Calibri" pitchFamily="34" charset="-120"/>
              </a:rPr>
              <a:t>Aligning column names, types, and formats took deliberate, methodical effort across the full dataset.</a:t>
            </a:r>
            <a:endParaRPr lang="en-US" sz="950" dirty="0"/>
          </a:p>
        </p:txBody>
      </p:sp>
      <p:sp>
        <p:nvSpPr>
          <p:cNvPr id="14" name="Shape 10"/>
          <p:cNvSpPr/>
          <p:nvPr/>
        </p:nvSpPr>
        <p:spPr>
          <a:xfrm>
            <a:off x="5053432" y="1965960"/>
            <a:ext cx="2084832" cy="3200400"/>
          </a:xfrm>
          <a:prstGeom prst="roundRect">
            <a:avLst>
              <a:gd name="adj" fmla="val 3509"/>
            </a:avLst>
          </a:prstGeom>
          <a:solidFill>
            <a:srgbClr val="13294B"/>
          </a:solidFill>
          <a:ln/>
        </p:spPr>
      </p:sp>
      <p:sp>
        <p:nvSpPr>
          <p:cNvPr id="15" name="Shape 11"/>
          <p:cNvSpPr/>
          <p:nvPr/>
        </p:nvSpPr>
        <p:spPr>
          <a:xfrm>
            <a:off x="5794096" y="2258568"/>
            <a:ext cx="603504" cy="603504"/>
          </a:xfrm>
          <a:prstGeom prst="ellipse">
            <a:avLst/>
          </a:prstGeom>
          <a:solidFill>
            <a:srgbClr val="C8334D"/>
          </a:solidFill>
          <a:ln/>
        </p:spPr>
      </p:sp>
      <p:pic>
        <p:nvPicPr>
          <p:cNvPr id="16" name="Image 2" descr="preencoded.png"/>
          <p:cNvPicPr>
            <a:picLocks noChangeAspect="1"/>
          </p:cNvPicPr>
          <p:nvPr/>
        </p:nvPicPr>
        <p:blipFill>
          <a:blip r:embed="rId5"/>
          <a:stretch>
            <a:fillRect/>
          </a:stretch>
        </p:blipFill>
        <p:spPr>
          <a:xfrm>
            <a:off x="5944972" y="2409444"/>
            <a:ext cx="301752" cy="301752"/>
          </a:xfrm>
          <a:prstGeom prst="rect">
            <a:avLst/>
          </a:prstGeom>
        </p:spPr>
      </p:pic>
      <p:sp>
        <p:nvSpPr>
          <p:cNvPr id="17" name="Text 12"/>
          <p:cNvSpPr/>
          <p:nvPr/>
        </p:nvSpPr>
        <p:spPr>
          <a:xfrm>
            <a:off x="5218024" y="3063240"/>
            <a:ext cx="1755648" cy="59436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Feature Interpretation</a:t>
            </a:r>
            <a:endParaRPr lang="en-US" sz="1250" dirty="0"/>
          </a:p>
        </p:txBody>
      </p:sp>
      <p:sp>
        <p:nvSpPr>
          <p:cNvPr id="18" name="Text 13"/>
          <p:cNvSpPr/>
          <p:nvPr/>
        </p:nvSpPr>
        <p:spPr>
          <a:xfrm>
            <a:off x="5236312" y="3703320"/>
            <a:ext cx="1719072" cy="1371600"/>
          </a:xfrm>
          <a:prstGeom prst="rect">
            <a:avLst/>
          </a:prstGeom>
          <a:noFill/>
          <a:ln/>
        </p:spPr>
        <p:txBody>
          <a:bodyPr wrap="square" lIns="0" tIns="0" rIns="0" bIns="0" rtlCol="0" anchor="ctr"/>
          <a:lstStyle/>
          <a:p>
            <a:pPr marL="0" indent="0" algn="ctr">
              <a:lnSpc>
                <a:spcPct val="115000"/>
              </a:lnSpc>
              <a:buNone/>
            </a:pPr>
            <a:r>
              <a:rPr lang="en-US" sz="950" dirty="0">
                <a:solidFill>
                  <a:srgbClr val="9FB0BE"/>
                </a:solidFill>
                <a:latin typeface="Calibri" pitchFamily="34" charset="0"/>
                <a:ea typeface="Calibri" pitchFamily="34" charset="-122"/>
                <a:cs typeface="Calibri" pitchFamily="34" charset="-120"/>
              </a:rPr>
              <a:t>Several clinical codes required research to correctly understand their medical meaning.</a:t>
            </a:r>
            <a:endParaRPr lang="en-US" sz="950" dirty="0"/>
          </a:p>
        </p:txBody>
      </p:sp>
      <p:sp>
        <p:nvSpPr>
          <p:cNvPr id="19" name="Shape 14"/>
          <p:cNvSpPr/>
          <p:nvPr/>
        </p:nvSpPr>
        <p:spPr>
          <a:xfrm>
            <a:off x="7339432" y="1965960"/>
            <a:ext cx="2084832" cy="3200400"/>
          </a:xfrm>
          <a:prstGeom prst="roundRect">
            <a:avLst>
              <a:gd name="adj" fmla="val 3509"/>
            </a:avLst>
          </a:prstGeom>
          <a:solidFill>
            <a:srgbClr val="13294B"/>
          </a:solidFill>
          <a:ln/>
        </p:spPr>
      </p:sp>
      <p:sp>
        <p:nvSpPr>
          <p:cNvPr id="20" name="Shape 15"/>
          <p:cNvSpPr/>
          <p:nvPr/>
        </p:nvSpPr>
        <p:spPr>
          <a:xfrm>
            <a:off x="8080096" y="2258568"/>
            <a:ext cx="603504" cy="603504"/>
          </a:xfrm>
          <a:prstGeom prst="ellipse">
            <a:avLst/>
          </a:prstGeom>
          <a:solidFill>
            <a:srgbClr val="C8334D"/>
          </a:solidFill>
          <a:ln/>
        </p:spPr>
      </p:sp>
      <p:pic>
        <p:nvPicPr>
          <p:cNvPr id="21" name="Image 3" descr="preencoded.png"/>
          <p:cNvPicPr>
            <a:picLocks noChangeAspect="1"/>
          </p:cNvPicPr>
          <p:nvPr/>
        </p:nvPicPr>
        <p:blipFill>
          <a:blip r:embed="rId6"/>
          <a:stretch>
            <a:fillRect/>
          </a:stretch>
        </p:blipFill>
        <p:spPr>
          <a:xfrm>
            <a:off x="8230972" y="2409444"/>
            <a:ext cx="301752" cy="301752"/>
          </a:xfrm>
          <a:prstGeom prst="rect">
            <a:avLst/>
          </a:prstGeom>
        </p:spPr>
      </p:pic>
      <p:sp>
        <p:nvSpPr>
          <p:cNvPr id="22" name="Text 16"/>
          <p:cNvSpPr/>
          <p:nvPr/>
        </p:nvSpPr>
        <p:spPr>
          <a:xfrm>
            <a:off x="7504024" y="3063240"/>
            <a:ext cx="1755648" cy="59436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Outlier Handling</a:t>
            </a:r>
            <a:endParaRPr lang="en-US" sz="1250" dirty="0"/>
          </a:p>
        </p:txBody>
      </p:sp>
      <p:sp>
        <p:nvSpPr>
          <p:cNvPr id="23" name="Text 17"/>
          <p:cNvSpPr/>
          <p:nvPr/>
        </p:nvSpPr>
        <p:spPr>
          <a:xfrm>
            <a:off x="7522312" y="3703320"/>
            <a:ext cx="1719072" cy="1371600"/>
          </a:xfrm>
          <a:prstGeom prst="rect">
            <a:avLst/>
          </a:prstGeom>
          <a:noFill/>
          <a:ln/>
        </p:spPr>
        <p:txBody>
          <a:bodyPr wrap="square" lIns="0" tIns="0" rIns="0" bIns="0" rtlCol="0" anchor="ctr"/>
          <a:lstStyle/>
          <a:p>
            <a:pPr marL="0" indent="0" algn="ctr">
              <a:lnSpc>
                <a:spcPct val="115000"/>
              </a:lnSpc>
              <a:buNone/>
            </a:pPr>
            <a:r>
              <a:rPr lang="en-US" sz="950" dirty="0">
                <a:solidFill>
                  <a:srgbClr val="9FB0BE"/>
                </a:solidFill>
                <a:latin typeface="Calibri" pitchFamily="34" charset="0"/>
                <a:ea typeface="Calibri" pitchFamily="34" charset="-122"/>
                <a:cs typeface="Calibri" pitchFamily="34" charset="-120"/>
              </a:rPr>
              <a:t>Deciding whether extreme values were genuine clinical cases or data errors required careful judgment.</a:t>
            </a:r>
            <a:endParaRPr lang="en-US" sz="950" dirty="0"/>
          </a:p>
        </p:txBody>
      </p:sp>
      <p:sp>
        <p:nvSpPr>
          <p:cNvPr id="24" name="Shape 18"/>
          <p:cNvSpPr/>
          <p:nvPr/>
        </p:nvSpPr>
        <p:spPr>
          <a:xfrm>
            <a:off x="9625432" y="1965960"/>
            <a:ext cx="2084832" cy="3200400"/>
          </a:xfrm>
          <a:prstGeom prst="roundRect">
            <a:avLst>
              <a:gd name="adj" fmla="val 3509"/>
            </a:avLst>
          </a:prstGeom>
          <a:solidFill>
            <a:srgbClr val="13294B"/>
          </a:solidFill>
          <a:ln/>
        </p:spPr>
      </p:sp>
      <p:sp>
        <p:nvSpPr>
          <p:cNvPr id="25" name="Shape 19"/>
          <p:cNvSpPr/>
          <p:nvPr/>
        </p:nvSpPr>
        <p:spPr>
          <a:xfrm>
            <a:off x="10366096" y="2258568"/>
            <a:ext cx="603504" cy="603504"/>
          </a:xfrm>
          <a:prstGeom prst="ellipse">
            <a:avLst/>
          </a:prstGeom>
          <a:solidFill>
            <a:srgbClr val="C8334D"/>
          </a:solidFill>
          <a:ln/>
        </p:spPr>
      </p:sp>
      <p:pic>
        <p:nvPicPr>
          <p:cNvPr id="26" name="Image 4" descr="preencoded.png"/>
          <p:cNvPicPr>
            <a:picLocks noChangeAspect="1"/>
          </p:cNvPicPr>
          <p:nvPr/>
        </p:nvPicPr>
        <p:blipFill>
          <a:blip r:embed="rId7"/>
          <a:stretch>
            <a:fillRect/>
          </a:stretch>
        </p:blipFill>
        <p:spPr>
          <a:xfrm>
            <a:off x="10516972" y="2409444"/>
            <a:ext cx="301752" cy="301752"/>
          </a:xfrm>
          <a:prstGeom prst="rect">
            <a:avLst/>
          </a:prstGeom>
        </p:spPr>
      </p:pic>
      <p:sp>
        <p:nvSpPr>
          <p:cNvPr id="27" name="Text 20"/>
          <p:cNvSpPr/>
          <p:nvPr/>
        </p:nvSpPr>
        <p:spPr>
          <a:xfrm>
            <a:off x="9790024" y="3063240"/>
            <a:ext cx="1755648" cy="59436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Domain Understanding</a:t>
            </a:r>
            <a:endParaRPr lang="en-US" sz="1250" dirty="0"/>
          </a:p>
        </p:txBody>
      </p:sp>
      <p:sp>
        <p:nvSpPr>
          <p:cNvPr id="28" name="Text 21"/>
          <p:cNvSpPr/>
          <p:nvPr/>
        </p:nvSpPr>
        <p:spPr>
          <a:xfrm>
            <a:off x="9808312" y="3703320"/>
            <a:ext cx="1719072" cy="1371600"/>
          </a:xfrm>
          <a:prstGeom prst="rect">
            <a:avLst/>
          </a:prstGeom>
          <a:noFill/>
          <a:ln/>
        </p:spPr>
        <p:txBody>
          <a:bodyPr wrap="square" lIns="0" tIns="0" rIns="0" bIns="0" rtlCol="0" anchor="ctr"/>
          <a:lstStyle/>
          <a:p>
            <a:pPr marL="0" indent="0" algn="ctr">
              <a:lnSpc>
                <a:spcPct val="115000"/>
              </a:lnSpc>
              <a:buNone/>
            </a:pPr>
            <a:r>
              <a:rPr lang="en-US" sz="950" dirty="0">
                <a:solidFill>
                  <a:srgbClr val="9FB0BE"/>
                </a:solidFill>
                <a:latin typeface="Calibri" pitchFamily="34" charset="0"/>
                <a:ea typeface="Calibri" pitchFamily="34" charset="-122"/>
                <a:cs typeface="Calibri" pitchFamily="34" charset="-120"/>
              </a:rPr>
              <a:t>Interpreting results responsibly required building a working knowledge of cardiovascular clinical context.</a:t>
            </a:r>
            <a:endParaRPr lang="en-US" sz="950" dirty="0"/>
          </a:p>
        </p:txBody>
      </p:sp>
      <p:sp>
        <p:nvSpPr>
          <p:cNvPr id="29" name="Text 2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9FB0BE"/>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30" name="Text 23"/>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9FB0B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lgn="l">
              <a:buNone/>
            </a:pPr>
            <a:r>
              <a:rPr lang="en-US" sz="1200" b="1" kern="0" spc="200" dirty="0">
                <a:solidFill>
                  <a:srgbClr val="0E7C86"/>
                </a:solidFill>
                <a:latin typeface="Calibri" pitchFamily="34" charset="0"/>
                <a:ea typeface="Calibri" pitchFamily="34" charset="-122"/>
                <a:cs typeface="Calibri" pitchFamily="34" charset="-120"/>
              </a:rPr>
              <a:t>FUTURE SCOPE</a:t>
            </a:r>
            <a:endParaRPr lang="en-US" sz="1200" dirty="0"/>
          </a:p>
        </p:txBody>
      </p:sp>
      <p:sp>
        <p:nvSpPr>
          <p:cNvPr id="3" name="Text 1"/>
          <p:cNvSpPr/>
          <p:nvPr/>
        </p:nvSpPr>
        <p:spPr>
          <a:xfrm>
            <a:off x="548640" y="658368"/>
            <a:ext cx="8686800" cy="822960"/>
          </a:xfrm>
          <a:prstGeom prst="rect">
            <a:avLst/>
          </a:prstGeom>
          <a:noFill/>
          <a:ln/>
        </p:spPr>
        <p:txBody>
          <a:bodyPr wrap="square" lIns="0" tIns="0" rIns="0" bIns="0" rtlCol="0" anchor="t"/>
          <a:lstStyle/>
          <a:p>
            <a:pPr marL="0" indent="0" algn="l">
              <a:buNone/>
            </a:pPr>
            <a:r>
              <a:rPr lang="en-US" sz="3200" b="1" dirty="0">
                <a:solidFill>
                  <a:srgbClr val="0B1F3A"/>
                </a:solidFill>
                <a:latin typeface="Cambria" pitchFamily="34" charset="0"/>
                <a:ea typeface="Cambria" pitchFamily="34" charset="-122"/>
                <a:cs typeface="Cambria" pitchFamily="34" charset="-120"/>
              </a:rPr>
              <a:t>Extending This Work Toward Prediction</a:t>
            </a:r>
            <a:endParaRPr lang="en-US" sz="3200" dirty="0"/>
          </a:p>
        </p:txBody>
      </p:sp>
      <p:sp>
        <p:nvSpPr>
          <p:cNvPr id="4" name="Shape 2"/>
          <p:cNvSpPr/>
          <p:nvPr/>
        </p:nvSpPr>
        <p:spPr>
          <a:xfrm>
            <a:off x="609448" y="169164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5" name="Shape 3"/>
          <p:cNvSpPr/>
          <p:nvPr/>
        </p:nvSpPr>
        <p:spPr>
          <a:xfrm>
            <a:off x="810616" y="1892808"/>
            <a:ext cx="457200" cy="457200"/>
          </a:xfrm>
          <a:prstGeom prst="ellipse">
            <a:avLst/>
          </a:prstGeom>
          <a:solidFill>
            <a:srgbClr val="EEF4F7"/>
          </a:solidFill>
          <a:ln/>
        </p:spPr>
      </p:sp>
      <p:pic>
        <p:nvPicPr>
          <p:cNvPr id="6" name="Image 0" descr="preencoded.png"/>
          <p:cNvPicPr>
            <a:picLocks noChangeAspect="1"/>
          </p:cNvPicPr>
          <p:nvPr/>
        </p:nvPicPr>
        <p:blipFill>
          <a:blip r:embed="rId3"/>
          <a:stretch>
            <a:fillRect/>
          </a:stretch>
        </p:blipFill>
        <p:spPr>
          <a:xfrm>
            <a:off x="913486" y="1995678"/>
            <a:ext cx="251460" cy="251460"/>
          </a:xfrm>
          <a:prstGeom prst="rect">
            <a:avLst/>
          </a:prstGeom>
        </p:spPr>
      </p:pic>
      <p:sp>
        <p:nvSpPr>
          <p:cNvPr id="7" name="Text 4"/>
          <p:cNvSpPr/>
          <p:nvPr/>
        </p:nvSpPr>
        <p:spPr>
          <a:xfrm>
            <a:off x="810616" y="246888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Logistic Regression</a:t>
            </a:r>
            <a:endParaRPr lang="en-US" sz="1200" dirty="0"/>
          </a:p>
        </p:txBody>
      </p:sp>
      <p:sp>
        <p:nvSpPr>
          <p:cNvPr id="8" name="Text 5"/>
          <p:cNvSpPr/>
          <p:nvPr/>
        </p:nvSpPr>
        <p:spPr>
          <a:xfrm>
            <a:off x="810616" y="280720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A natural first model for binary heart disease classification.</a:t>
            </a:r>
            <a:endParaRPr lang="en-US" sz="930" dirty="0"/>
          </a:p>
        </p:txBody>
      </p:sp>
      <p:sp>
        <p:nvSpPr>
          <p:cNvPr id="9" name="Shape 6"/>
          <p:cNvSpPr/>
          <p:nvPr/>
        </p:nvSpPr>
        <p:spPr>
          <a:xfrm>
            <a:off x="3398368" y="169164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10" name="Shape 7"/>
          <p:cNvSpPr/>
          <p:nvPr/>
        </p:nvSpPr>
        <p:spPr>
          <a:xfrm>
            <a:off x="3599536" y="1892808"/>
            <a:ext cx="457200" cy="457200"/>
          </a:xfrm>
          <a:prstGeom prst="ellipse">
            <a:avLst/>
          </a:prstGeom>
          <a:solidFill>
            <a:srgbClr val="EEF4F7"/>
          </a:solidFill>
          <a:ln/>
        </p:spPr>
      </p:sp>
      <p:pic>
        <p:nvPicPr>
          <p:cNvPr id="11" name="Image 1" descr="preencoded.png"/>
          <p:cNvPicPr>
            <a:picLocks noChangeAspect="1"/>
          </p:cNvPicPr>
          <p:nvPr/>
        </p:nvPicPr>
        <p:blipFill>
          <a:blip r:embed="rId4"/>
          <a:stretch>
            <a:fillRect/>
          </a:stretch>
        </p:blipFill>
        <p:spPr>
          <a:xfrm>
            <a:off x="3702406" y="1995678"/>
            <a:ext cx="251460" cy="251460"/>
          </a:xfrm>
          <a:prstGeom prst="rect">
            <a:avLst/>
          </a:prstGeom>
        </p:spPr>
      </p:pic>
      <p:sp>
        <p:nvSpPr>
          <p:cNvPr id="12" name="Text 8"/>
          <p:cNvSpPr/>
          <p:nvPr/>
        </p:nvSpPr>
        <p:spPr>
          <a:xfrm>
            <a:off x="3599536" y="246888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Random Forest</a:t>
            </a:r>
            <a:endParaRPr lang="en-US" sz="1200" dirty="0"/>
          </a:p>
        </p:txBody>
      </p:sp>
      <p:sp>
        <p:nvSpPr>
          <p:cNvPr id="13" name="Text 9"/>
          <p:cNvSpPr/>
          <p:nvPr/>
        </p:nvSpPr>
        <p:spPr>
          <a:xfrm>
            <a:off x="3599536" y="280720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An ensemble approach to capture non-linear feature interactions.</a:t>
            </a:r>
            <a:endParaRPr lang="en-US" sz="930" dirty="0"/>
          </a:p>
        </p:txBody>
      </p:sp>
      <p:sp>
        <p:nvSpPr>
          <p:cNvPr id="14" name="Shape 10"/>
          <p:cNvSpPr/>
          <p:nvPr/>
        </p:nvSpPr>
        <p:spPr>
          <a:xfrm>
            <a:off x="6187288" y="169164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15" name="Shape 11"/>
          <p:cNvSpPr/>
          <p:nvPr/>
        </p:nvSpPr>
        <p:spPr>
          <a:xfrm>
            <a:off x="6388456" y="1892808"/>
            <a:ext cx="457200" cy="457200"/>
          </a:xfrm>
          <a:prstGeom prst="ellipse">
            <a:avLst/>
          </a:prstGeom>
          <a:solidFill>
            <a:srgbClr val="EEF4F7"/>
          </a:solidFill>
          <a:ln/>
        </p:spPr>
      </p:sp>
      <p:pic>
        <p:nvPicPr>
          <p:cNvPr id="16" name="Image 2" descr="preencoded.png"/>
          <p:cNvPicPr>
            <a:picLocks noChangeAspect="1"/>
          </p:cNvPicPr>
          <p:nvPr/>
        </p:nvPicPr>
        <p:blipFill>
          <a:blip r:embed="rId5"/>
          <a:stretch>
            <a:fillRect/>
          </a:stretch>
        </p:blipFill>
        <p:spPr>
          <a:xfrm>
            <a:off x="6491326" y="1995678"/>
            <a:ext cx="251460" cy="251460"/>
          </a:xfrm>
          <a:prstGeom prst="rect">
            <a:avLst/>
          </a:prstGeom>
        </p:spPr>
      </p:pic>
      <p:sp>
        <p:nvSpPr>
          <p:cNvPr id="17" name="Text 12"/>
          <p:cNvSpPr/>
          <p:nvPr/>
        </p:nvSpPr>
        <p:spPr>
          <a:xfrm>
            <a:off x="6388456" y="246888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XGBoost</a:t>
            </a:r>
            <a:endParaRPr lang="en-US" sz="1200" dirty="0"/>
          </a:p>
        </p:txBody>
      </p:sp>
      <p:sp>
        <p:nvSpPr>
          <p:cNvPr id="18" name="Text 13"/>
          <p:cNvSpPr/>
          <p:nvPr/>
        </p:nvSpPr>
        <p:spPr>
          <a:xfrm>
            <a:off x="6388456" y="280720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A high-performance gradient boosting model for tabular clinical data.</a:t>
            </a:r>
            <a:endParaRPr lang="en-US" sz="930" dirty="0"/>
          </a:p>
        </p:txBody>
      </p:sp>
      <p:sp>
        <p:nvSpPr>
          <p:cNvPr id="19" name="Shape 14"/>
          <p:cNvSpPr/>
          <p:nvPr/>
        </p:nvSpPr>
        <p:spPr>
          <a:xfrm>
            <a:off x="8976208" y="169164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20" name="Shape 15"/>
          <p:cNvSpPr/>
          <p:nvPr/>
        </p:nvSpPr>
        <p:spPr>
          <a:xfrm>
            <a:off x="9177376" y="1892808"/>
            <a:ext cx="457200" cy="457200"/>
          </a:xfrm>
          <a:prstGeom prst="ellipse">
            <a:avLst/>
          </a:prstGeom>
          <a:solidFill>
            <a:srgbClr val="EEF4F7"/>
          </a:solidFill>
          <a:ln/>
        </p:spPr>
      </p:sp>
      <p:pic>
        <p:nvPicPr>
          <p:cNvPr id="21" name="Image 3" descr="preencoded.png"/>
          <p:cNvPicPr>
            <a:picLocks noChangeAspect="1"/>
          </p:cNvPicPr>
          <p:nvPr/>
        </p:nvPicPr>
        <p:blipFill>
          <a:blip r:embed="rId6"/>
          <a:stretch>
            <a:fillRect/>
          </a:stretch>
        </p:blipFill>
        <p:spPr>
          <a:xfrm>
            <a:off x="9280246" y="1995678"/>
            <a:ext cx="251460" cy="251460"/>
          </a:xfrm>
          <a:prstGeom prst="rect">
            <a:avLst/>
          </a:prstGeom>
        </p:spPr>
      </p:pic>
      <p:sp>
        <p:nvSpPr>
          <p:cNvPr id="22" name="Text 16"/>
          <p:cNvSpPr/>
          <p:nvPr/>
        </p:nvSpPr>
        <p:spPr>
          <a:xfrm>
            <a:off x="9177376" y="246888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Model Evaluation</a:t>
            </a:r>
            <a:endParaRPr lang="en-US" sz="1200" dirty="0"/>
          </a:p>
        </p:txBody>
      </p:sp>
      <p:sp>
        <p:nvSpPr>
          <p:cNvPr id="23" name="Text 17"/>
          <p:cNvSpPr/>
          <p:nvPr/>
        </p:nvSpPr>
        <p:spPr>
          <a:xfrm>
            <a:off x="9177376" y="280720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Assessing accuracy, precision, recall, and AUC for clinical reliability.</a:t>
            </a:r>
            <a:endParaRPr lang="en-US" sz="930" dirty="0"/>
          </a:p>
        </p:txBody>
      </p:sp>
      <p:sp>
        <p:nvSpPr>
          <p:cNvPr id="24" name="Shape 18"/>
          <p:cNvSpPr/>
          <p:nvPr/>
        </p:nvSpPr>
        <p:spPr>
          <a:xfrm>
            <a:off x="609448" y="370332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25" name="Shape 19"/>
          <p:cNvSpPr/>
          <p:nvPr/>
        </p:nvSpPr>
        <p:spPr>
          <a:xfrm>
            <a:off x="810616" y="3904488"/>
            <a:ext cx="457200" cy="457200"/>
          </a:xfrm>
          <a:prstGeom prst="ellipse">
            <a:avLst/>
          </a:prstGeom>
          <a:solidFill>
            <a:srgbClr val="EEF4F7"/>
          </a:solidFill>
          <a:ln/>
        </p:spPr>
      </p:sp>
      <p:pic>
        <p:nvPicPr>
          <p:cNvPr id="26" name="Image 4" descr="preencoded.png"/>
          <p:cNvPicPr>
            <a:picLocks noChangeAspect="1"/>
          </p:cNvPicPr>
          <p:nvPr/>
        </p:nvPicPr>
        <p:blipFill>
          <a:blip r:embed="rId7"/>
          <a:stretch>
            <a:fillRect/>
          </a:stretch>
        </p:blipFill>
        <p:spPr>
          <a:xfrm>
            <a:off x="913486" y="4007358"/>
            <a:ext cx="251460" cy="251460"/>
          </a:xfrm>
          <a:prstGeom prst="rect">
            <a:avLst/>
          </a:prstGeom>
        </p:spPr>
      </p:pic>
      <p:sp>
        <p:nvSpPr>
          <p:cNvPr id="27" name="Text 20"/>
          <p:cNvSpPr/>
          <p:nvPr/>
        </p:nvSpPr>
        <p:spPr>
          <a:xfrm>
            <a:off x="810616" y="448056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Feature Engineering</a:t>
            </a:r>
            <a:endParaRPr lang="en-US" sz="1200" dirty="0"/>
          </a:p>
        </p:txBody>
      </p:sp>
      <p:sp>
        <p:nvSpPr>
          <p:cNvPr id="28" name="Text 21"/>
          <p:cNvSpPr/>
          <p:nvPr/>
        </p:nvSpPr>
        <p:spPr>
          <a:xfrm>
            <a:off x="810616" y="481888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Creating new derived features to strengthen predictive signal.</a:t>
            </a:r>
            <a:endParaRPr lang="en-US" sz="930" dirty="0"/>
          </a:p>
        </p:txBody>
      </p:sp>
      <p:sp>
        <p:nvSpPr>
          <p:cNvPr id="29" name="Shape 22"/>
          <p:cNvSpPr/>
          <p:nvPr/>
        </p:nvSpPr>
        <p:spPr>
          <a:xfrm>
            <a:off x="3398368" y="370332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30" name="Shape 23"/>
          <p:cNvSpPr/>
          <p:nvPr/>
        </p:nvSpPr>
        <p:spPr>
          <a:xfrm>
            <a:off x="3599536" y="3904488"/>
            <a:ext cx="457200" cy="457200"/>
          </a:xfrm>
          <a:prstGeom prst="ellipse">
            <a:avLst/>
          </a:prstGeom>
          <a:solidFill>
            <a:srgbClr val="EEF4F7"/>
          </a:solidFill>
          <a:ln/>
        </p:spPr>
      </p:sp>
      <p:pic>
        <p:nvPicPr>
          <p:cNvPr id="31" name="Image 5" descr="preencoded.png"/>
          <p:cNvPicPr>
            <a:picLocks noChangeAspect="1"/>
          </p:cNvPicPr>
          <p:nvPr/>
        </p:nvPicPr>
        <p:blipFill>
          <a:blip r:embed="rId8"/>
          <a:stretch>
            <a:fillRect/>
          </a:stretch>
        </p:blipFill>
        <p:spPr>
          <a:xfrm>
            <a:off x="3702406" y="4007358"/>
            <a:ext cx="251460" cy="251460"/>
          </a:xfrm>
          <a:prstGeom prst="rect">
            <a:avLst/>
          </a:prstGeom>
        </p:spPr>
      </p:pic>
      <p:sp>
        <p:nvSpPr>
          <p:cNvPr id="32" name="Text 24"/>
          <p:cNvSpPr/>
          <p:nvPr/>
        </p:nvSpPr>
        <p:spPr>
          <a:xfrm>
            <a:off x="3599536" y="448056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Hyperparameter Tuning</a:t>
            </a:r>
            <a:endParaRPr lang="en-US" sz="1200" dirty="0"/>
          </a:p>
        </p:txBody>
      </p:sp>
      <p:sp>
        <p:nvSpPr>
          <p:cNvPr id="33" name="Text 25"/>
          <p:cNvSpPr/>
          <p:nvPr/>
        </p:nvSpPr>
        <p:spPr>
          <a:xfrm>
            <a:off x="3599536" y="481888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Optimizing model parameters for the best generalizable performance.</a:t>
            </a:r>
            <a:endParaRPr lang="en-US" sz="930" dirty="0"/>
          </a:p>
        </p:txBody>
      </p:sp>
      <p:sp>
        <p:nvSpPr>
          <p:cNvPr id="34" name="Shape 26"/>
          <p:cNvSpPr/>
          <p:nvPr/>
        </p:nvSpPr>
        <p:spPr>
          <a:xfrm>
            <a:off x="6187288" y="3703320"/>
            <a:ext cx="2606040" cy="1783080"/>
          </a:xfrm>
          <a:prstGeom prst="roundRect">
            <a:avLst>
              <a:gd name="adj" fmla="val 3590"/>
            </a:avLst>
          </a:prstGeom>
          <a:solidFill>
            <a:srgbClr val="FFFFFF"/>
          </a:solidFill>
          <a:ln/>
          <a:effectLst>
            <a:outerShdw blurRad="101600" dist="38100" dir="2700000" algn="bl" rotWithShape="0">
              <a:srgbClr val="0B1F3A">
                <a:alpha val="12000"/>
              </a:srgbClr>
            </a:outerShdw>
          </a:effectLst>
        </p:spPr>
      </p:sp>
      <p:sp>
        <p:nvSpPr>
          <p:cNvPr id="35" name="Shape 27"/>
          <p:cNvSpPr/>
          <p:nvPr/>
        </p:nvSpPr>
        <p:spPr>
          <a:xfrm>
            <a:off x="6388456" y="3904488"/>
            <a:ext cx="457200" cy="457200"/>
          </a:xfrm>
          <a:prstGeom prst="ellipse">
            <a:avLst/>
          </a:prstGeom>
          <a:solidFill>
            <a:srgbClr val="EEF4F7"/>
          </a:solidFill>
          <a:ln/>
        </p:spPr>
      </p:sp>
      <p:pic>
        <p:nvPicPr>
          <p:cNvPr id="36" name="Image 6" descr="preencoded.png"/>
          <p:cNvPicPr>
            <a:picLocks noChangeAspect="1"/>
          </p:cNvPicPr>
          <p:nvPr/>
        </p:nvPicPr>
        <p:blipFill>
          <a:blip r:embed="rId9"/>
          <a:stretch>
            <a:fillRect/>
          </a:stretch>
        </p:blipFill>
        <p:spPr>
          <a:xfrm>
            <a:off x="6491326" y="4007358"/>
            <a:ext cx="251460" cy="251460"/>
          </a:xfrm>
          <a:prstGeom prst="rect">
            <a:avLst/>
          </a:prstGeom>
        </p:spPr>
      </p:pic>
      <p:sp>
        <p:nvSpPr>
          <p:cNvPr id="37" name="Text 28"/>
          <p:cNvSpPr/>
          <p:nvPr/>
        </p:nvSpPr>
        <p:spPr>
          <a:xfrm>
            <a:off x="6388456" y="4480560"/>
            <a:ext cx="2203704"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Clinical Decision Support</a:t>
            </a:r>
            <a:endParaRPr lang="en-US" sz="1200" dirty="0"/>
          </a:p>
        </p:txBody>
      </p:sp>
      <p:sp>
        <p:nvSpPr>
          <p:cNvPr id="38" name="Text 29"/>
          <p:cNvSpPr/>
          <p:nvPr/>
        </p:nvSpPr>
        <p:spPr>
          <a:xfrm>
            <a:off x="6388456" y="4818888"/>
            <a:ext cx="2203704" cy="594360"/>
          </a:xfrm>
          <a:prstGeom prst="rect">
            <a:avLst/>
          </a:prstGeom>
          <a:noFill/>
          <a:ln/>
        </p:spPr>
        <p:txBody>
          <a:bodyPr wrap="square" lIns="0" tIns="0" rIns="0" bIns="0" rtlCol="0" anchor="ctr"/>
          <a:lstStyle/>
          <a:p>
            <a:pPr marL="0" indent="0">
              <a:lnSpc>
                <a:spcPct val="110000"/>
              </a:lnSpc>
              <a:buNone/>
            </a:pPr>
            <a:r>
              <a:rPr lang="en-US" sz="930" dirty="0">
                <a:solidFill>
                  <a:srgbClr val="5A6B7B"/>
                </a:solidFill>
                <a:latin typeface="Calibri" pitchFamily="34" charset="0"/>
                <a:ea typeface="Calibri" pitchFamily="34" charset="-122"/>
                <a:cs typeface="Calibri" pitchFamily="34" charset="-120"/>
              </a:rPr>
              <a:t>Packaging insights into tools that could assist real clinical workflows.</a:t>
            </a:r>
            <a:endParaRPr lang="en-US" sz="930" dirty="0"/>
          </a:p>
        </p:txBody>
      </p:sp>
      <p:sp>
        <p:nvSpPr>
          <p:cNvPr id="39" name="Text 3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5A6B7B"/>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40" name="Text 3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3294B"/>
          </a:solidFill>
          <a:ln/>
        </p:spPr>
      </p:sp>
      <p:sp>
        <p:nvSpPr>
          <p:cNvPr id="3" name="Shape 1"/>
          <p:cNvSpPr/>
          <p:nvPr/>
        </p:nvSpPr>
        <p:spPr>
          <a:xfrm>
            <a:off x="9875520" y="-2560320"/>
            <a:ext cx="5029200" cy="5029200"/>
          </a:xfrm>
          <a:prstGeom prst="ellipse">
            <a:avLst/>
          </a:prstGeom>
          <a:solidFill>
            <a:srgbClr val="081730"/>
          </a:solidFill>
          <a:ln/>
        </p:spPr>
      </p:sp>
      <p:sp>
        <p:nvSpPr>
          <p:cNvPr id="4" name="Text 2"/>
          <p:cNvSpPr/>
          <p:nvPr/>
        </p:nvSpPr>
        <p:spPr>
          <a:xfrm>
            <a:off x="548640" y="777240"/>
            <a:ext cx="5486400" cy="274320"/>
          </a:xfrm>
          <a:prstGeom prst="rect">
            <a:avLst/>
          </a:prstGeom>
          <a:noFill/>
          <a:ln/>
        </p:spPr>
        <p:txBody>
          <a:bodyPr wrap="square" lIns="0" tIns="0" rIns="0" bIns="0" rtlCol="0" anchor="ctr"/>
          <a:lstStyle/>
          <a:p>
            <a:pPr marL="0" indent="0" algn="l">
              <a:buNone/>
            </a:pPr>
            <a:r>
              <a:rPr lang="en-US" sz="1200" b="1" kern="0" spc="200" dirty="0">
                <a:solidFill>
                  <a:srgbClr val="12A5A8"/>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548640" y="10972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Bringing the EDA Process Together</a:t>
            </a:r>
            <a:endParaRPr lang="en-US" sz="3000" dirty="0"/>
          </a:p>
        </p:txBody>
      </p:sp>
      <p:sp>
        <p:nvSpPr>
          <p:cNvPr id="6" name="Shape 4"/>
          <p:cNvSpPr/>
          <p:nvPr/>
        </p:nvSpPr>
        <p:spPr>
          <a:xfrm>
            <a:off x="548640" y="1965960"/>
            <a:ext cx="365760" cy="365760"/>
          </a:xfrm>
          <a:prstGeom prst="ellipse">
            <a:avLst/>
          </a:prstGeom>
          <a:solidFill>
            <a:srgbClr val="0E7C86"/>
          </a:solidFill>
          <a:ln/>
        </p:spPr>
      </p:sp>
      <p:pic>
        <p:nvPicPr>
          <p:cNvPr id="7" name="Image 0" descr="preencoded.png"/>
          <p:cNvPicPr>
            <a:picLocks noChangeAspect="1"/>
          </p:cNvPicPr>
          <p:nvPr/>
        </p:nvPicPr>
        <p:blipFill>
          <a:blip r:embed="rId3"/>
          <a:stretch>
            <a:fillRect/>
          </a:stretch>
        </p:blipFill>
        <p:spPr>
          <a:xfrm>
            <a:off x="630936" y="2048256"/>
            <a:ext cx="201168" cy="201168"/>
          </a:xfrm>
          <a:prstGeom prst="rect">
            <a:avLst/>
          </a:prstGeom>
        </p:spPr>
      </p:pic>
      <p:sp>
        <p:nvSpPr>
          <p:cNvPr id="8" name="Text 5"/>
          <p:cNvSpPr/>
          <p:nvPr/>
        </p:nvSpPr>
        <p:spPr>
          <a:xfrm>
            <a:off x="1097280" y="1911096"/>
            <a:ext cx="6949440" cy="777240"/>
          </a:xfrm>
          <a:prstGeom prst="rect">
            <a:avLst/>
          </a:prstGeom>
          <a:noFill/>
          <a:ln/>
        </p:spPr>
        <p:txBody>
          <a:bodyPr wrap="square" lIns="0" tIns="0" rIns="0" bIns="0" rtlCol="0" anchor="t"/>
          <a:lstStyle/>
          <a:p>
            <a:pPr marL="0" indent="0">
              <a:lnSpc>
                <a:spcPct val="120000"/>
              </a:lnSpc>
              <a:buNone/>
            </a:pPr>
            <a:r>
              <a:rPr lang="en-US" sz="1250" dirty="0">
                <a:solidFill>
                  <a:srgbClr val="9FB0BE"/>
                </a:solidFill>
                <a:latin typeface="Calibri" pitchFamily="34" charset="0"/>
                <a:ea typeface="Calibri" pitchFamily="34" charset="-122"/>
                <a:cs typeface="Calibri" pitchFamily="34" charset="-120"/>
              </a:rPr>
              <a:t>This project walked through a complete EDA process — from raw clinical data to cleaned, well-understood patient records.</a:t>
            </a:r>
            <a:endParaRPr lang="en-US" sz="1250" dirty="0"/>
          </a:p>
        </p:txBody>
      </p:sp>
      <p:sp>
        <p:nvSpPr>
          <p:cNvPr id="9" name="Shape 6"/>
          <p:cNvSpPr/>
          <p:nvPr/>
        </p:nvSpPr>
        <p:spPr>
          <a:xfrm>
            <a:off x="548640" y="2834640"/>
            <a:ext cx="365760" cy="365760"/>
          </a:xfrm>
          <a:prstGeom prst="ellipse">
            <a:avLst/>
          </a:prstGeom>
          <a:solidFill>
            <a:srgbClr val="0E7C86"/>
          </a:solidFill>
          <a:ln/>
        </p:spPr>
      </p:sp>
      <p:pic>
        <p:nvPicPr>
          <p:cNvPr id="10" name="Image 1" descr="preencoded.png"/>
          <p:cNvPicPr>
            <a:picLocks noChangeAspect="1"/>
          </p:cNvPicPr>
          <p:nvPr/>
        </p:nvPicPr>
        <p:blipFill>
          <a:blip r:embed="rId3"/>
          <a:stretch>
            <a:fillRect/>
          </a:stretch>
        </p:blipFill>
        <p:spPr>
          <a:xfrm>
            <a:off x="630936" y="2916936"/>
            <a:ext cx="201168" cy="201168"/>
          </a:xfrm>
          <a:prstGeom prst="rect">
            <a:avLst/>
          </a:prstGeom>
        </p:spPr>
      </p:pic>
      <p:sp>
        <p:nvSpPr>
          <p:cNvPr id="11" name="Text 7"/>
          <p:cNvSpPr/>
          <p:nvPr/>
        </p:nvSpPr>
        <p:spPr>
          <a:xfrm>
            <a:off x="1097280" y="2779776"/>
            <a:ext cx="6949440" cy="777240"/>
          </a:xfrm>
          <a:prstGeom prst="rect">
            <a:avLst/>
          </a:prstGeom>
          <a:noFill/>
          <a:ln/>
        </p:spPr>
        <p:txBody>
          <a:bodyPr wrap="square" lIns="0" tIns="0" rIns="0" bIns="0" rtlCol="0" anchor="t"/>
          <a:lstStyle/>
          <a:p>
            <a:pPr marL="0" indent="0">
              <a:lnSpc>
                <a:spcPct val="120000"/>
              </a:lnSpc>
              <a:buNone/>
            </a:pPr>
            <a:r>
              <a:rPr lang="en-US" sz="1250" dirty="0">
                <a:solidFill>
                  <a:srgbClr val="9FB0BE"/>
                </a:solidFill>
                <a:latin typeface="Calibri" pitchFamily="34" charset="0"/>
                <a:ea typeface="Calibri" pitchFamily="34" charset="-122"/>
                <a:cs typeface="Calibri" pitchFamily="34" charset="-120"/>
              </a:rPr>
              <a:t>Exploratory analysis surfaced meaningful patterns across age, chest pain type, cholesterol, and heart rate without overstating conclusions.</a:t>
            </a:r>
            <a:endParaRPr lang="en-US" sz="1250" dirty="0"/>
          </a:p>
        </p:txBody>
      </p:sp>
      <p:sp>
        <p:nvSpPr>
          <p:cNvPr id="12" name="Shape 8"/>
          <p:cNvSpPr/>
          <p:nvPr/>
        </p:nvSpPr>
        <p:spPr>
          <a:xfrm>
            <a:off x="548640" y="3703320"/>
            <a:ext cx="365760" cy="365760"/>
          </a:xfrm>
          <a:prstGeom prst="ellipse">
            <a:avLst/>
          </a:prstGeom>
          <a:solidFill>
            <a:srgbClr val="0E7C86"/>
          </a:solidFill>
          <a:ln/>
        </p:spPr>
      </p:sp>
      <p:pic>
        <p:nvPicPr>
          <p:cNvPr id="13" name="Image 2" descr="preencoded.png"/>
          <p:cNvPicPr>
            <a:picLocks noChangeAspect="1"/>
          </p:cNvPicPr>
          <p:nvPr/>
        </p:nvPicPr>
        <p:blipFill>
          <a:blip r:embed="rId3"/>
          <a:stretch>
            <a:fillRect/>
          </a:stretch>
        </p:blipFill>
        <p:spPr>
          <a:xfrm>
            <a:off x="630936" y="3785616"/>
            <a:ext cx="201168" cy="201168"/>
          </a:xfrm>
          <a:prstGeom prst="rect">
            <a:avLst/>
          </a:prstGeom>
        </p:spPr>
      </p:pic>
      <p:sp>
        <p:nvSpPr>
          <p:cNvPr id="14" name="Text 9"/>
          <p:cNvSpPr/>
          <p:nvPr/>
        </p:nvSpPr>
        <p:spPr>
          <a:xfrm>
            <a:off x="1097280" y="3648456"/>
            <a:ext cx="6949440" cy="777240"/>
          </a:xfrm>
          <a:prstGeom prst="rect">
            <a:avLst/>
          </a:prstGeom>
          <a:noFill/>
          <a:ln/>
        </p:spPr>
        <p:txBody>
          <a:bodyPr wrap="square" lIns="0" tIns="0" rIns="0" bIns="0" rtlCol="0" anchor="t"/>
          <a:lstStyle/>
          <a:p>
            <a:pPr marL="0" indent="0">
              <a:lnSpc>
                <a:spcPct val="120000"/>
              </a:lnSpc>
              <a:buNone/>
            </a:pPr>
            <a:r>
              <a:rPr lang="en-US" sz="1250" dirty="0">
                <a:solidFill>
                  <a:srgbClr val="9FB0BE"/>
                </a:solidFill>
                <a:latin typeface="Calibri" pitchFamily="34" charset="0"/>
                <a:ea typeface="Calibri" pitchFamily="34" charset="-122"/>
                <a:cs typeface="Calibri" pitchFamily="34" charset="-120"/>
              </a:rPr>
              <a:t>These findings prepare the dataset for the next stage: predictive modeling and clinical decision support.</a:t>
            </a:r>
            <a:endParaRPr lang="en-US" sz="1250" dirty="0"/>
          </a:p>
        </p:txBody>
      </p:sp>
      <p:sp>
        <p:nvSpPr>
          <p:cNvPr id="15" name="Shape 10"/>
          <p:cNvSpPr/>
          <p:nvPr/>
        </p:nvSpPr>
        <p:spPr>
          <a:xfrm>
            <a:off x="8229600" y="1833880"/>
            <a:ext cx="3383280" cy="3200400"/>
          </a:xfrm>
          <a:prstGeom prst="roundRect">
            <a:avLst>
              <a:gd name="adj" fmla="val 2857"/>
            </a:avLst>
          </a:prstGeom>
          <a:solidFill>
            <a:srgbClr val="FFFFFF"/>
          </a:solidFill>
          <a:ln/>
          <a:effectLst>
            <a:outerShdw blurRad="101600" dist="38100" dir="2700000" algn="bl" rotWithShape="0">
              <a:srgbClr val="0B1F3A">
                <a:alpha val="12000"/>
              </a:srgbClr>
            </a:outerShdw>
          </a:effectLst>
        </p:spPr>
      </p:sp>
      <p:pic>
        <p:nvPicPr>
          <p:cNvPr id="16" name="Image 3" descr="preencoded.png"/>
          <p:cNvPicPr>
            <a:picLocks noChangeAspect="1"/>
          </p:cNvPicPr>
          <p:nvPr/>
        </p:nvPicPr>
        <p:blipFill>
          <a:blip r:embed="rId4"/>
          <a:stretch>
            <a:fillRect/>
          </a:stretch>
        </p:blipFill>
        <p:spPr>
          <a:xfrm>
            <a:off x="9555480" y="2194560"/>
            <a:ext cx="731520" cy="731520"/>
          </a:xfrm>
          <a:prstGeom prst="rect">
            <a:avLst/>
          </a:prstGeom>
        </p:spPr>
      </p:pic>
      <p:sp>
        <p:nvSpPr>
          <p:cNvPr id="17" name="Text 11"/>
          <p:cNvSpPr/>
          <p:nvPr/>
        </p:nvSpPr>
        <p:spPr>
          <a:xfrm>
            <a:off x="8412480" y="3154680"/>
            <a:ext cx="3017520" cy="502920"/>
          </a:xfrm>
          <a:prstGeom prst="rect">
            <a:avLst/>
          </a:prstGeom>
          <a:noFill/>
          <a:ln/>
        </p:spPr>
        <p:txBody>
          <a:bodyPr wrap="square" lIns="0" tIns="0" rIns="0" bIns="0" rtlCol="0" anchor="ctr"/>
          <a:lstStyle/>
          <a:p>
            <a:pPr marL="0" indent="0" algn="ctr">
              <a:buNone/>
            </a:pPr>
            <a:r>
              <a:rPr lang="en-US" sz="2400" b="1" dirty="0">
                <a:solidFill>
                  <a:srgbClr val="0B1F3A"/>
                </a:solidFill>
                <a:latin typeface="Cambria" pitchFamily="34" charset="0"/>
                <a:ea typeface="Cambria" pitchFamily="34" charset="-122"/>
                <a:cs typeface="Cambria" pitchFamily="34" charset="-120"/>
              </a:rPr>
              <a:t>Thank You</a:t>
            </a:r>
            <a:endParaRPr lang="en-US" sz="2400" dirty="0"/>
          </a:p>
        </p:txBody>
      </p:sp>
      <p:sp>
        <p:nvSpPr>
          <p:cNvPr id="18" name="Shape 12"/>
          <p:cNvSpPr/>
          <p:nvPr/>
        </p:nvSpPr>
        <p:spPr>
          <a:xfrm>
            <a:off x="9235440" y="3767328"/>
            <a:ext cx="1371600" cy="0"/>
          </a:xfrm>
          <a:prstGeom prst="line">
            <a:avLst/>
          </a:prstGeom>
          <a:noFill/>
          <a:ln w="12700">
            <a:solidFill>
              <a:srgbClr val="E2E8EE"/>
            </a:solidFill>
            <a:prstDash val="solid"/>
          </a:ln>
        </p:spPr>
      </p:sp>
      <p:sp>
        <p:nvSpPr>
          <p:cNvPr id="19" name="Text 13"/>
          <p:cNvSpPr/>
          <p:nvPr/>
        </p:nvSpPr>
        <p:spPr>
          <a:xfrm>
            <a:off x="8412480" y="3931920"/>
            <a:ext cx="3017520" cy="365760"/>
          </a:xfrm>
          <a:prstGeom prst="rect">
            <a:avLst/>
          </a:prstGeom>
          <a:noFill/>
          <a:ln/>
        </p:spPr>
        <p:txBody>
          <a:bodyPr wrap="square" lIns="0" tIns="0" rIns="0" bIns="0" rtlCol="0" anchor="ctr"/>
          <a:lstStyle/>
          <a:p>
            <a:pPr marL="0" indent="0" algn="ctr">
              <a:buNone/>
            </a:pPr>
            <a:endParaRPr lang="en-US" sz="1400" dirty="0"/>
          </a:p>
        </p:txBody>
      </p:sp>
      <p:sp>
        <p:nvSpPr>
          <p:cNvPr id="20" name="Text 14"/>
          <p:cNvSpPr/>
          <p:nvPr/>
        </p:nvSpPr>
        <p:spPr>
          <a:xfrm>
            <a:off x="8595360" y="4370832"/>
            <a:ext cx="2651760" cy="548640"/>
          </a:xfrm>
          <a:prstGeom prst="rect">
            <a:avLst/>
          </a:prstGeom>
          <a:noFill/>
          <a:ln/>
        </p:spPr>
        <p:txBody>
          <a:bodyPr wrap="square" lIns="0" tIns="0" rIns="0" bIns="0" rtlCol="0" anchor="ctr"/>
          <a:lstStyle/>
          <a:p>
            <a:pPr marL="0" indent="0" algn="ctr">
              <a:buNone/>
            </a:pPr>
            <a:r>
              <a:rPr lang="en-US" sz="1050" i="1" dirty="0" smtClean="0">
                <a:solidFill>
                  <a:srgbClr val="5A6B7B"/>
                </a:solidFill>
                <a:latin typeface="Calibri" pitchFamily="34" charset="0"/>
                <a:ea typeface="Calibri" pitchFamily="34" charset="-122"/>
                <a:cs typeface="Calibri" pitchFamily="34" charset="-120"/>
              </a:rPr>
              <a:t>.</a:t>
            </a:r>
            <a:endParaRPr lang="en-US" sz="1050" dirty="0"/>
          </a:p>
        </p:txBody>
      </p:sp>
      <p:sp>
        <p:nvSpPr>
          <p:cNvPr id="21" name="Text 1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9FB0BE"/>
                </a:solidFill>
                <a:latin typeface="Calibri" pitchFamily="34" charset="0"/>
                <a:ea typeface="Calibri" pitchFamily="34" charset="-122"/>
                <a:cs typeface="Calibri" pitchFamily="34" charset="-120"/>
              </a:rPr>
              <a:t>Heart Disease Risk Analysis  |  EDA Internship Project</a:t>
            </a:r>
            <a:endParaRPr lang="en-US" sz="900" dirty="0"/>
          </a:p>
        </p:txBody>
      </p:sp>
      <p:sp>
        <p:nvSpPr>
          <p:cNvPr id="22"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9FB0B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3493</Words>
  <Application>Microsoft Office PowerPoint</Application>
  <PresentationFormat>Widescreen</PresentationFormat>
  <Paragraphs>275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Risk Analysis using Exploratory Data Analysis</dc:title>
  <dc:subject>PptxGenJS Presentation</dc:subject>
  <dc:creator>Data Analytics Intern</dc:creator>
  <cp:lastModifiedBy>student</cp:lastModifiedBy>
  <cp:revision>4</cp:revision>
  <dcterms:created xsi:type="dcterms:W3CDTF">2026-06-17T06:06:06Z</dcterms:created>
  <dcterms:modified xsi:type="dcterms:W3CDTF">2026-06-17T06:28:03Z</dcterms:modified>
</cp:coreProperties>
</file>